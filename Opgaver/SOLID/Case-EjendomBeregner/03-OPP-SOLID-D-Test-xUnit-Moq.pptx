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602" y="17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6043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3063240"/>
            <a:ext cx="5760720" cy="36576"/>
          </a:xfrm>
          <a:prstGeom prst="rect">
            <a:avLst/>
          </a:prstGeom>
          <a:solidFill>
            <a:srgbClr val="008CBA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Test med xUnit og Moq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29184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8CB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Programmering - 2. semester</a:t>
            </a:r>
            <a:endParaRPr lang="en-US" sz="28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A0C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SOLID (D) - Dependency Inversion &amp; Testbarhed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2D62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02D62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4" name="Text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UCL - Programmering 2. semester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D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2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Hvad er Unit Testing?</a:t>
            </a:r>
            <a:endParaRPr lang="en-US" sz="2200" dirty="0"/>
          </a:p>
          <a:p>
            <a:pPr>
              <a:spcAft>
                <a:spcPts val="600"/>
              </a:spcAft>
            </a:pPr>
            <a:r>
              <a:rPr lang="en-US" sz="2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Test Pyramiden</a:t>
            </a:r>
            <a:endParaRPr lang="en-US" sz="2200" dirty="0"/>
          </a:p>
          <a:p>
            <a:pPr>
              <a:spcAft>
                <a:spcPts val="600"/>
              </a:spcAft>
            </a:pPr>
            <a:r>
              <a:rPr lang="en-US" sz="2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xUnit v3 - Framework</a:t>
            </a:r>
            <a:endParaRPr lang="en-US" sz="2200" dirty="0"/>
          </a:p>
          <a:p>
            <a:pPr lvl="1">
              <a:spcAft>
                <a:spcPts val="600"/>
              </a:spcAft>
            </a:pPr>
            <a:r>
              <a:rPr lang="en-US" sz="2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[Fact], [Theory], Assert</a:t>
            </a:r>
            <a:endParaRPr lang="en-US" sz="2200" dirty="0"/>
          </a:p>
          <a:p>
            <a:pPr>
              <a:spcAft>
                <a:spcPts val="600"/>
              </a:spcAft>
            </a:pPr>
            <a:r>
              <a:rPr lang="en-US" sz="2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Arrange-Act-Assert mønstret</a:t>
            </a:r>
            <a:endParaRPr lang="en-US" sz="2200" dirty="0"/>
          </a:p>
          <a:p>
            <a:pPr>
              <a:spcAft>
                <a:spcPts val="600"/>
              </a:spcAft>
            </a:pPr>
            <a:r>
              <a:rPr lang="en-US" sz="2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Mocking med Moq</a:t>
            </a:r>
            <a:endParaRPr lang="en-US" sz="2200" dirty="0"/>
          </a:p>
          <a:p>
            <a:pPr lvl="1">
              <a:spcAft>
                <a:spcPts val="600"/>
              </a:spcAft>
            </a:pPr>
            <a:r>
              <a:rPr lang="en-US" sz="2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Mock, Setup, Verify</a:t>
            </a:r>
            <a:endParaRPr lang="en-US" sz="2200" dirty="0"/>
          </a:p>
          <a:p>
            <a:pPr>
              <a:spcAft>
                <a:spcPts val="600"/>
              </a:spcAft>
            </a:pPr>
            <a:r>
              <a:rPr lang="en-US" sz="2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Dependency Inversion &amp; testbarhed</a:t>
            </a:r>
            <a:endParaRPr lang="en-US" sz="2200" dirty="0"/>
          </a:p>
          <a:p>
            <a:pPr>
              <a:spcAft>
                <a:spcPts val="600"/>
              </a:spcAft>
            </a:pPr>
            <a:r>
              <a:rPr lang="en-US" sz="2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 Adapter Pattern for testbarhed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2D62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02D62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4" name="Text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UCL - Programmering 2. semester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D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Hvad er Unit Testing?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10698480" cy="822960"/>
          </a:xfrm>
          <a:prstGeom prst="roundRect">
            <a:avLst>
              <a:gd name="adj" fmla="val 11111"/>
            </a:avLst>
          </a:prstGeom>
          <a:solidFill>
            <a:srgbClr val="F2F2F2"/>
          </a:solidFill>
          <a:ln w="19050">
            <a:solidFill>
              <a:srgbClr val="0056A4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7" name="Text 5"/>
          <p:cNvSpPr/>
          <p:nvPr/>
        </p:nvSpPr>
        <p:spPr>
          <a:xfrm>
            <a:off x="914400" y="128016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2D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unit test tester en enkelt "enhed" af kode isoleret fra dens afhængigheder.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"enhed" er typisk en metode eller en klasse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Testen verificerer at koden opfører sig korrekt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Afhængigheder erstattes med test doubles (mocks/stubs)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tests er hurtige - kører på millisekunder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Giver øjeblikkelig feedback under udvikling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Fanger fejl tidligt i udviklingsprocessen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2D62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02D62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4" name="Text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UCL - Programmering 2. semester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D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Pyramiden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389120" y="1463040"/>
            <a:ext cx="3383280" cy="1005840"/>
          </a:xfrm>
          <a:prstGeom prst="rect">
            <a:avLst/>
          </a:prstGeom>
          <a:solidFill>
            <a:srgbClr val="E0404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7" name="Text 5"/>
          <p:cNvSpPr/>
          <p:nvPr/>
        </p:nvSpPr>
        <p:spPr>
          <a:xfrm>
            <a:off x="4389120" y="14630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E2E Tests (10%)
</a:t>
            </a:r>
            <a:r>
              <a:rPr lang="en-US" sz="1300" dirty="0">
                <a:solidFill>
                  <a:srgbClr val="FFFFFF"/>
                </a:solidFill>
              </a:rPr>
              <a:t>Langsomme, skrøbelige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017520" y="2606040"/>
            <a:ext cx="6126480" cy="1188720"/>
          </a:xfrm>
          <a:prstGeom prst="rect">
            <a:avLst/>
          </a:prstGeom>
          <a:solidFill>
            <a:srgbClr val="F9A82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9" name="Text 7"/>
          <p:cNvSpPr/>
          <p:nvPr/>
        </p:nvSpPr>
        <p:spPr>
          <a:xfrm>
            <a:off x="3017520" y="2606040"/>
            <a:ext cx="6126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Integration Tests (20%)
</a:t>
            </a:r>
            <a:r>
              <a:rPr lang="en-US" sz="1500" dirty="0">
                <a:solidFill>
                  <a:srgbClr val="FFFFFF"/>
                </a:solidFill>
              </a:rPr>
              <a:t>Tester samspil mellem komponenter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645920" y="3931920"/>
            <a:ext cx="8869680" cy="1463040"/>
          </a:xfrm>
          <a:prstGeom prst="rect">
            <a:avLst/>
          </a:prstGeom>
          <a:solidFill>
            <a:srgbClr val="40A02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11" name="Text 9"/>
          <p:cNvSpPr/>
          <p:nvPr/>
        </p:nvSpPr>
        <p:spPr>
          <a:xfrm>
            <a:off x="1645920" y="3931920"/>
            <a:ext cx="8869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Unit Tests (70%)
</a:t>
            </a:r>
            <a:r>
              <a:rPr lang="en-US" sz="1700" dirty="0">
                <a:solidFill>
                  <a:srgbClr val="FFFFFF"/>
                </a:solidFill>
              </a:rPr>
              <a:t>Hurtige, isolerede, mange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2D62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02D62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4" name="Text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UCL - Programmering 2. semester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D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xUnit v3 - Introduktion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xUnit er et open source test framework til .NET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Bruges sammen med Microsoft.NET.Test.Sdk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Vigtige koncepter:</a:t>
            </a:r>
            <a:endParaRPr lang="en-US" sz="2000" dirty="0"/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[Fact] - en enkelt test case</a:t>
            </a:r>
            <a:endParaRPr lang="en-US" sz="2000" dirty="0"/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[Theory] - parameteriserede tests</a:t>
            </a:r>
            <a:endParaRPr lang="en-US" sz="2000" dirty="0"/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Assert klassen - verificering af resultater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NuGet pakker til test projektet: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4754880"/>
            <a:ext cx="10698480" cy="1536192"/>
          </a:xfrm>
          <a:prstGeom prst="roundRect">
            <a:avLst>
              <a:gd name="adj" fmla="val 5952"/>
            </a:avLst>
          </a:prstGeom>
          <a:solidFill>
            <a:srgbClr val="1E1E2E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8" name="Text 6"/>
          <p:cNvSpPr/>
          <p:nvPr/>
        </p:nvSpPr>
        <p:spPr>
          <a:xfrm>
            <a:off x="914400" y="4892040"/>
            <a:ext cx="1033272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&lt;!-- .csproj --&gt;</a:t>
            </a:r>
            <a:endParaRPr lang="en-US" sz="14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&lt;PackageReference Include="Microsoft.NET.Test.Sdk" Version="18.0.1" /&gt;</a:t>
            </a:r>
            <a:endParaRPr lang="en-US" sz="14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&lt;PackageReference Include="Moq" Version="4.20.72" /&gt;</a:t>
            </a:r>
            <a:endParaRPr lang="en-US" sz="14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&lt;PackageReference Include="xunit.v3.mtp-v2" Version="3.2.2" /&gt;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2D62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02D62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4" name="Text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UCL - Programmering 2. semester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D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[Fact] - En enkelt test case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[Fact] markerer en metode som en test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Testen har ingen parametre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Tester ét specifikt scenarie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2743200"/>
            <a:ext cx="10515600" cy="3602736"/>
          </a:xfrm>
          <a:prstGeom prst="roundRect">
            <a:avLst>
              <a:gd name="adj" fmla="val 2358"/>
            </a:avLst>
          </a:prstGeom>
          <a:solidFill>
            <a:srgbClr val="1E1E2E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10332720" cy="3602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6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[Fact]</a:t>
            </a:r>
            <a:endParaRPr lang="en-US" sz="16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6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public void Addition_ReturnsCorrectSum()</a:t>
            </a:r>
            <a:endParaRPr lang="en-US" sz="16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6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{</a:t>
            </a:r>
            <a:endParaRPr lang="en-US" sz="16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6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// Arrange</a:t>
            </a:r>
            <a:endParaRPr lang="en-US" sz="16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6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var calculator = new Calculator();</a:t>
            </a:r>
            <a:endParaRPr lang="en-US" sz="16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endParaRPr lang="en-US" sz="16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6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// Act</a:t>
            </a:r>
            <a:endParaRPr lang="en-US" sz="16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6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var result = calculator.Add(2, 3);</a:t>
            </a:r>
            <a:endParaRPr lang="en-US" sz="16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endParaRPr lang="en-US" sz="16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6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// Assert</a:t>
            </a:r>
            <a:endParaRPr lang="en-US" sz="16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6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Assert.Equal(5, result);</a:t>
            </a:r>
            <a:endParaRPr lang="en-US" sz="16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6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}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2D62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02D62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4" name="Text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UCL - Programmering 2. semester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D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[Theory] og [InlineData]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[Theory] kører samme test med forskellige data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[InlineData] leverer testdata som parametre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Perfekt til at teste edge cases og grænseværdier</a:t>
            </a:r>
            <a:endParaRPr lang="en-US" sz="2000" dirty="0"/>
          </a:p>
        </p:txBody>
      </p:sp>
      <p:grpSp>
        <p:nvGrpSpPr>
          <p:cNvPr id="9" name="Gruppe 8">
            <a:extLst>
              <a:ext uri="{FF2B5EF4-FFF2-40B4-BE49-F238E27FC236}">
                <a16:creationId xmlns:a16="http://schemas.microsoft.com/office/drawing/2014/main" id="{47A9F686-A2A8-510B-14C5-84FBF4EB87C6}"/>
              </a:ext>
            </a:extLst>
          </p:cNvPr>
          <p:cNvGrpSpPr/>
          <p:nvPr/>
        </p:nvGrpSpPr>
        <p:grpSpPr>
          <a:xfrm>
            <a:off x="944881" y="2426817"/>
            <a:ext cx="10302238" cy="4072114"/>
            <a:chOff x="900695" y="2609698"/>
            <a:chExt cx="10529305" cy="4410033"/>
          </a:xfrm>
        </p:grpSpPr>
        <p:sp>
          <p:nvSpPr>
            <p:cNvPr id="7" name="Shape 5"/>
            <p:cNvSpPr/>
            <p:nvPr/>
          </p:nvSpPr>
          <p:spPr>
            <a:xfrm>
              <a:off x="914400" y="2609698"/>
              <a:ext cx="10515600" cy="4248302"/>
            </a:xfrm>
            <a:prstGeom prst="roundRect">
              <a:avLst>
                <a:gd name="adj" fmla="val 1712"/>
              </a:avLst>
            </a:prstGeom>
            <a:solidFill>
              <a:srgbClr val="1E1E2E"/>
            </a:solidFill>
            <a:ln/>
          </p:spPr>
          <p:txBody>
            <a:bodyPr/>
            <a:lstStyle/>
            <a:p>
              <a:endParaRPr lang="da-DK"/>
            </a:p>
          </p:txBody>
        </p:sp>
        <p:sp>
          <p:nvSpPr>
            <p:cNvPr id="8" name="Text 6"/>
            <p:cNvSpPr/>
            <p:nvPr/>
          </p:nvSpPr>
          <p:spPr>
            <a:xfrm>
              <a:off x="900695" y="2653902"/>
              <a:ext cx="10332720" cy="4365829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lnSpc>
                  <a:spcPct val="95000"/>
                </a:lnSpc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CDD6F4"/>
                  </a:solidFill>
                  <a:latin typeface="Cascadia Code" pitchFamily="34" charset="0"/>
                  <a:ea typeface="Cascadia Code" pitchFamily="34" charset="-122"/>
                  <a:cs typeface="Cascadia Code" pitchFamily="34" charset="-120"/>
                </a:rPr>
                <a:t>[Theory]</a:t>
              </a:r>
              <a:endParaRPr lang="en-US" sz="1400" dirty="0"/>
            </a:p>
            <a:p>
              <a:pPr marL="0" indent="0">
                <a:lnSpc>
                  <a:spcPct val="95000"/>
                </a:lnSpc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CDD6F4"/>
                  </a:solidFill>
                  <a:latin typeface="Cascadia Code" pitchFamily="34" charset="0"/>
                  <a:ea typeface="Cascadia Code" pitchFamily="34" charset="-122"/>
                  <a:cs typeface="Cascadia Code" pitchFamily="34" charset="-120"/>
                </a:rPr>
                <a:t>[InlineData(2, 3, 5)]</a:t>
              </a:r>
              <a:endParaRPr lang="en-US" sz="1400" dirty="0"/>
            </a:p>
            <a:p>
              <a:pPr marL="0" indent="0">
                <a:lnSpc>
                  <a:spcPct val="95000"/>
                </a:lnSpc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CDD6F4"/>
                  </a:solidFill>
                  <a:latin typeface="Cascadia Code" pitchFamily="34" charset="0"/>
                  <a:ea typeface="Cascadia Code" pitchFamily="34" charset="-122"/>
                  <a:cs typeface="Cascadia Code" pitchFamily="34" charset="-120"/>
                </a:rPr>
                <a:t>[InlineData(0, 0, 0)]</a:t>
              </a:r>
              <a:endParaRPr lang="en-US" sz="1400" dirty="0"/>
            </a:p>
            <a:p>
              <a:pPr marL="0" indent="0">
                <a:lnSpc>
                  <a:spcPct val="95000"/>
                </a:lnSpc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CDD6F4"/>
                  </a:solidFill>
                  <a:latin typeface="Cascadia Code" pitchFamily="34" charset="0"/>
                  <a:ea typeface="Cascadia Code" pitchFamily="34" charset="-122"/>
                  <a:cs typeface="Cascadia Code" pitchFamily="34" charset="-120"/>
                </a:rPr>
                <a:t>[InlineData(-1, 1, 0)]</a:t>
              </a:r>
              <a:endParaRPr lang="en-US" sz="1400" dirty="0"/>
            </a:p>
            <a:p>
              <a:pPr marL="0" indent="0">
                <a:lnSpc>
                  <a:spcPct val="95000"/>
                </a:lnSpc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CDD6F4"/>
                  </a:solidFill>
                  <a:latin typeface="Cascadia Code" pitchFamily="34" charset="0"/>
                  <a:ea typeface="Cascadia Code" pitchFamily="34" charset="-122"/>
                  <a:cs typeface="Cascadia Code" pitchFamily="34" charset="-120"/>
                </a:rPr>
                <a:t>[InlineData(100, -50, 50)]</a:t>
              </a:r>
              <a:endParaRPr lang="en-US" sz="1400" dirty="0"/>
            </a:p>
            <a:p>
              <a:pPr marL="0" indent="0">
                <a:lnSpc>
                  <a:spcPct val="95000"/>
                </a:lnSpc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CDD6F4"/>
                  </a:solidFill>
                  <a:latin typeface="Cascadia Code" pitchFamily="34" charset="0"/>
                  <a:ea typeface="Cascadia Code" pitchFamily="34" charset="-122"/>
                  <a:cs typeface="Cascadia Code" pitchFamily="34" charset="-120"/>
                </a:rPr>
                <a:t>public void Addition_WithVariousInputs_ReturnsCorrectSum(</a:t>
              </a:r>
              <a:endParaRPr lang="en-US" sz="1400" dirty="0"/>
            </a:p>
            <a:p>
              <a:pPr marL="0" indent="0">
                <a:lnSpc>
                  <a:spcPct val="95000"/>
                </a:lnSpc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CDD6F4"/>
                  </a:solidFill>
                  <a:latin typeface="Cascadia Code" pitchFamily="34" charset="0"/>
                  <a:ea typeface="Cascadia Code" pitchFamily="34" charset="-122"/>
                  <a:cs typeface="Cascadia Code" pitchFamily="34" charset="-120"/>
                </a:rPr>
                <a:t>    int a, int b, int expected)</a:t>
              </a:r>
              <a:endParaRPr lang="en-US" sz="1400" dirty="0"/>
            </a:p>
            <a:p>
              <a:pPr marL="0" indent="0">
                <a:lnSpc>
                  <a:spcPct val="95000"/>
                </a:lnSpc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CDD6F4"/>
                  </a:solidFill>
                  <a:latin typeface="Cascadia Code" pitchFamily="34" charset="0"/>
                  <a:ea typeface="Cascadia Code" pitchFamily="34" charset="-122"/>
                  <a:cs typeface="Cascadia Code" pitchFamily="34" charset="-120"/>
                </a:rPr>
                <a:t>{</a:t>
              </a:r>
              <a:endParaRPr lang="en-US" sz="1400" dirty="0"/>
            </a:p>
            <a:p>
              <a:pPr marL="0" indent="0">
                <a:lnSpc>
                  <a:spcPct val="95000"/>
                </a:lnSpc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CDD6F4"/>
                  </a:solidFill>
                  <a:latin typeface="Cascadia Code" pitchFamily="34" charset="0"/>
                  <a:ea typeface="Cascadia Code" pitchFamily="34" charset="-122"/>
                  <a:cs typeface="Cascadia Code" pitchFamily="34" charset="-120"/>
                </a:rPr>
                <a:t>    // Arrange</a:t>
              </a:r>
              <a:endParaRPr lang="en-US" sz="1400" dirty="0"/>
            </a:p>
            <a:p>
              <a:pPr marL="0" indent="0">
                <a:lnSpc>
                  <a:spcPct val="95000"/>
                </a:lnSpc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CDD6F4"/>
                  </a:solidFill>
                  <a:latin typeface="Cascadia Code" pitchFamily="34" charset="0"/>
                  <a:ea typeface="Cascadia Code" pitchFamily="34" charset="-122"/>
                  <a:cs typeface="Cascadia Code" pitchFamily="34" charset="-120"/>
                </a:rPr>
                <a:t>    var calculator = new Calculator();</a:t>
              </a:r>
              <a:endParaRPr lang="en-US" sz="1400" dirty="0"/>
            </a:p>
            <a:p>
              <a:pPr marL="0" indent="0">
                <a:lnSpc>
                  <a:spcPct val="95000"/>
                </a:lnSpc>
                <a:spcAft>
                  <a:spcPts val="200"/>
                </a:spcAft>
                <a:buNone/>
              </a:pPr>
              <a:endParaRPr lang="en-US" sz="1400" dirty="0"/>
            </a:p>
            <a:p>
              <a:pPr marL="0" indent="0">
                <a:lnSpc>
                  <a:spcPct val="95000"/>
                </a:lnSpc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CDD6F4"/>
                  </a:solidFill>
                  <a:latin typeface="Cascadia Code" pitchFamily="34" charset="0"/>
                  <a:ea typeface="Cascadia Code" pitchFamily="34" charset="-122"/>
                  <a:cs typeface="Cascadia Code" pitchFamily="34" charset="-120"/>
                </a:rPr>
                <a:t>    // Act</a:t>
              </a:r>
              <a:endParaRPr lang="en-US" sz="1400" dirty="0"/>
            </a:p>
            <a:p>
              <a:pPr marL="0" indent="0">
                <a:lnSpc>
                  <a:spcPct val="95000"/>
                </a:lnSpc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CDD6F4"/>
                  </a:solidFill>
                  <a:latin typeface="Cascadia Code" pitchFamily="34" charset="0"/>
                  <a:ea typeface="Cascadia Code" pitchFamily="34" charset="-122"/>
                  <a:cs typeface="Cascadia Code" pitchFamily="34" charset="-120"/>
                </a:rPr>
                <a:t>    var result = calculator.Add(a, b);</a:t>
              </a:r>
              <a:endParaRPr lang="en-US" sz="1400" dirty="0"/>
            </a:p>
            <a:p>
              <a:pPr marL="0" indent="0">
                <a:lnSpc>
                  <a:spcPct val="95000"/>
                </a:lnSpc>
                <a:spcAft>
                  <a:spcPts val="200"/>
                </a:spcAft>
                <a:buNone/>
              </a:pPr>
              <a:endParaRPr lang="en-US" sz="1400" dirty="0"/>
            </a:p>
            <a:p>
              <a:pPr marL="0" indent="0">
                <a:lnSpc>
                  <a:spcPct val="95000"/>
                </a:lnSpc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CDD6F4"/>
                  </a:solidFill>
                  <a:latin typeface="Cascadia Code" pitchFamily="34" charset="0"/>
                  <a:ea typeface="Cascadia Code" pitchFamily="34" charset="-122"/>
                  <a:cs typeface="Cascadia Code" pitchFamily="34" charset="-120"/>
                </a:rPr>
                <a:t>    // Assert</a:t>
              </a:r>
              <a:endParaRPr lang="en-US" sz="1400" dirty="0"/>
            </a:p>
            <a:p>
              <a:pPr marL="0" indent="0">
                <a:lnSpc>
                  <a:spcPct val="95000"/>
                </a:lnSpc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CDD6F4"/>
                  </a:solidFill>
                  <a:latin typeface="Cascadia Code" pitchFamily="34" charset="0"/>
                  <a:ea typeface="Cascadia Code" pitchFamily="34" charset="-122"/>
                  <a:cs typeface="Cascadia Code" pitchFamily="34" charset="-120"/>
                </a:rPr>
                <a:t>    Assert.Equal(expected, result);</a:t>
              </a:r>
              <a:endParaRPr lang="en-US" sz="1400" dirty="0"/>
            </a:p>
            <a:p>
              <a:pPr marL="0" indent="0">
                <a:lnSpc>
                  <a:spcPct val="95000"/>
                </a:lnSpc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CDD6F4"/>
                  </a:solidFill>
                  <a:latin typeface="Cascadia Code" pitchFamily="34" charset="0"/>
                  <a:ea typeface="Cascadia Code" pitchFamily="34" charset="-122"/>
                  <a:cs typeface="Cascadia Code" pitchFamily="34" charset="-120"/>
                </a:rPr>
                <a:t>}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2D62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02D62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4" name="Text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UCL - Programmering 2. semester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D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Assert - Vigtige metoder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303520" cy="3584448"/>
          </a:xfrm>
          <a:prstGeom prst="roundRect">
            <a:avLst>
              <a:gd name="adj" fmla="val 2551"/>
            </a:avLst>
          </a:prstGeom>
          <a:solidFill>
            <a:srgbClr val="1E1E2E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7" name="Text 5"/>
          <p:cNvSpPr/>
          <p:nvPr/>
        </p:nvSpPr>
        <p:spPr>
          <a:xfrm>
            <a:off x="914400" y="1600200"/>
            <a:ext cx="4937760" cy="3310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// Sammenligning</a:t>
            </a:r>
            <a:endParaRPr lang="en-US" sz="15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Assert.Equal(expected, actual);</a:t>
            </a:r>
            <a:endParaRPr lang="en-US" sz="15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Assert.NotEqual(unexpected, actual);</a:t>
            </a:r>
            <a:endParaRPr lang="en-US" sz="15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endParaRPr lang="en-US" sz="15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// Boolean</a:t>
            </a:r>
            <a:endParaRPr lang="en-US" sz="15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Assert.True(condition);</a:t>
            </a:r>
            <a:endParaRPr lang="en-US" sz="15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Assert.False(condition);</a:t>
            </a:r>
            <a:endParaRPr lang="en-US" sz="15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endParaRPr lang="en-US" sz="15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// Null check</a:t>
            </a:r>
            <a:endParaRPr lang="en-US" sz="15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Assert.Null(object);</a:t>
            </a:r>
            <a:endParaRPr lang="en-US" sz="15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Assert.NotNull(object);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303520" cy="3877056"/>
          </a:xfrm>
          <a:prstGeom prst="roundRect">
            <a:avLst>
              <a:gd name="adj" fmla="val 2358"/>
            </a:avLst>
          </a:prstGeom>
          <a:solidFill>
            <a:srgbClr val="1E1E2E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9" name="Text 7"/>
          <p:cNvSpPr/>
          <p:nvPr/>
        </p:nvSpPr>
        <p:spPr>
          <a:xfrm>
            <a:off x="6492240" y="1600200"/>
            <a:ext cx="4937760" cy="3602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// Collections</a:t>
            </a:r>
            <a:endParaRPr lang="en-US" sz="15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Assert.Empty(collection);</a:t>
            </a:r>
            <a:endParaRPr lang="en-US" sz="15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Assert.Single(collection);</a:t>
            </a:r>
            <a:endParaRPr lang="en-US" sz="15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Assert.Contains(item, collection);</a:t>
            </a:r>
            <a:endParaRPr lang="en-US" sz="15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endParaRPr lang="en-US" sz="15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// Exceptions</a:t>
            </a:r>
            <a:endParaRPr lang="en-US" sz="15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Assert.Throws&lt;Exception&gt;(</a:t>
            </a:r>
            <a:endParaRPr lang="en-US" sz="15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() =&gt; dangerousMethod()</a:t>
            </a:r>
            <a:endParaRPr lang="en-US" sz="15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);</a:t>
            </a:r>
            <a:endParaRPr lang="en-US" sz="15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endParaRPr lang="en-US" sz="15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// Type check</a:t>
            </a:r>
            <a:endParaRPr lang="en-US" sz="15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Assert.IsType&lt;MyClass&gt;(object);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2D62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02D62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4" name="Text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UCL - Programmering 2. semester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D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Arrange - Act - Assert (AAA)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383280" cy="2194560"/>
          </a:xfrm>
          <a:prstGeom prst="roundRect">
            <a:avLst>
              <a:gd name="adj" fmla="val 6250"/>
            </a:avLst>
          </a:prstGeom>
          <a:solidFill>
            <a:srgbClr val="0056A4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Arrange
</a:t>
            </a:r>
            <a:r>
              <a:rPr lang="en-US" sz="1700" dirty="0">
                <a:solidFill>
                  <a:srgbClr val="FFFFFF"/>
                </a:solidFill>
              </a:rPr>
              <a:t>Opsæt test data</a:t>
            </a:r>
            <a:endParaRPr lang="en-US" sz="28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</a:rPr>
              <a:t>og afhængigheder</a:t>
            </a:r>
            <a:endParaRPr lang="en-US" sz="28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</a:rPr>
              <a:t>(mocks, objekter)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480560" y="1463040"/>
            <a:ext cx="3383280" cy="2194560"/>
          </a:xfrm>
          <a:prstGeom prst="roundRect">
            <a:avLst>
              <a:gd name="adj" fmla="val 6250"/>
            </a:avLst>
          </a:prstGeom>
          <a:solidFill>
            <a:srgbClr val="008CBA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9" name="Text 7"/>
          <p:cNvSpPr/>
          <p:nvPr/>
        </p:nvSpPr>
        <p:spPr>
          <a:xfrm>
            <a:off x="4480560" y="146304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Act
</a:t>
            </a:r>
            <a:r>
              <a:rPr lang="en-US" sz="1700" dirty="0">
                <a:solidFill>
                  <a:srgbClr val="FFFFFF"/>
                </a:solidFill>
              </a:rPr>
              <a:t>Kald metoden</a:t>
            </a:r>
            <a:endParaRPr lang="en-US" sz="28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</a:rPr>
              <a:t>der testes</a:t>
            </a:r>
            <a:endParaRPr lang="en-US" sz="28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</a:rPr>
              <a:t>(system under test)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229600" y="1463040"/>
            <a:ext cx="3383280" cy="2194560"/>
          </a:xfrm>
          <a:prstGeom prst="roundRect">
            <a:avLst>
              <a:gd name="adj" fmla="val 6250"/>
            </a:avLst>
          </a:prstGeom>
          <a:solidFill>
            <a:srgbClr val="40A02B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1" name="Text 9"/>
          <p:cNvSpPr/>
          <p:nvPr/>
        </p:nvSpPr>
        <p:spPr>
          <a:xfrm>
            <a:off x="8229600" y="146304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Assert
</a:t>
            </a:r>
            <a:r>
              <a:rPr lang="en-US" sz="1700" dirty="0">
                <a:solidFill>
                  <a:srgbClr val="FFFFFF"/>
                </a:solidFill>
              </a:rPr>
              <a:t>Verificér at</a:t>
            </a:r>
            <a:endParaRPr lang="en-US" sz="28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</a:rPr>
              <a:t>resultatet er</a:t>
            </a:r>
            <a:endParaRPr lang="en-US" sz="28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</a:rPr>
              <a:t>som forventet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46760" y="3819698"/>
            <a:ext cx="10698480" cy="2651760"/>
          </a:xfrm>
          <a:prstGeom prst="roundRect">
            <a:avLst>
              <a:gd name="adj" fmla="val 2193"/>
            </a:avLst>
          </a:prstGeom>
          <a:solidFill>
            <a:srgbClr val="1E1E2E"/>
          </a:solidFill>
          <a:ln/>
        </p:spPr>
        <p:txBody>
          <a:bodyPr/>
          <a:lstStyle/>
          <a:p>
            <a:endParaRPr lang="da-DK" dirty="0"/>
          </a:p>
        </p:txBody>
      </p:sp>
      <p:sp>
        <p:nvSpPr>
          <p:cNvPr id="13" name="Text 11"/>
          <p:cNvSpPr/>
          <p:nvPr/>
        </p:nvSpPr>
        <p:spPr>
          <a:xfrm>
            <a:off x="746760" y="3819699"/>
            <a:ext cx="103327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[Fact]</a:t>
            </a:r>
            <a:endParaRPr lang="en-US" sz="12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public void Method_Scenario_ExpectedResult()</a:t>
            </a:r>
            <a:endParaRPr lang="en-US" sz="12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// Arrange - opsæt data og afhængigheder</a:t>
            </a:r>
            <a:endParaRPr lang="en-US" sz="12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var mock = new Mock&lt;IDependency&gt;();</a:t>
            </a:r>
            <a:endParaRPr lang="en-US" sz="12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var sut = new MyService(mock.Object);</a:t>
            </a:r>
            <a:endParaRPr lang="en-US" sz="12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// Act - kald metoden</a:t>
            </a:r>
            <a:endParaRPr lang="en-US" sz="12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var result = sut.DoSomething();</a:t>
            </a:r>
            <a:endParaRPr lang="en-US" sz="12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// Assert - verificér resultat</a:t>
            </a:r>
            <a:endParaRPr lang="en-US" sz="12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Assert.Equal(expected, result);</a:t>
            </a:r>
            <a:endParaRPr lang="en-US" sz="12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2D62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02D62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4" name="Text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UCL - Programmering 2. semester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D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Doubles - Mocking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10698480" cy="731520"/>
          </a:xfrm>
          <a:prstGeom prst="roundRect">
            <a:avLst>
              <a:gd name="adj" fmla="val 12500"/>
            </a:avLst>
          </a:prstGeom>
          <a:solidFill>
            <a:srgbClr val="F2F2F2"/>
          </a:solidFill>
          <a:ln w="19050">
            <a:solidFill>
              <a:srgbClr val="0056A4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7" name="Text 5"/>
          <p:cNvSpPr/>
          <p:nvPr/>
        </p:nvSpPr>
        <p:spPr>
          <a:xfrm>
            <a:off x="914400" y="11887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2D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doubles erstatter rigtige afhængigheder med kontrollerede implementeringer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3383280" cy="2194560"/>
          </a:xfrm>
          <a:prstGeom prst="roundRect">
            <a:avLst>
              <a:gd name="adj" fmla="val 6250"/>
            </a:avLst>
          </a:prstGeom>
          <a:solidFill>
            <a:srgbClr val="0056A4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Stub
</a:t>
            </a:r>
            <a:r>
              <a:rPr lang="en-US" sz="1600" dirty="0">
                <a:solidFill>
                  <a:srgbClr val="FFFFFF"/>
                </a:solidFill>
              </a:rPr>
              <a:t>Returnerer foruddefinerede</a:t>
            </a:r>
            <a:endParaRPr lang="en-US" sz="2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værdier. Bruges når vi</a:t>
            </a:r>
            <a:endParaRPr lang="en-US" sz="2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har brug for data.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480560" y="2286000"/>
            <a:ext cx="3383280" cy="2194560"/>
          </a:xfrm>
          <a:prstGeom prst="roundRect">
            <a:avLst>
              <a:gd name="adj" fmla="val 6250"/>
            </a:avLst>
          </a:prstGeom>
          <a:solidFill>
            <a:srgbClr val="008CBA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1" name="Text 9"/>
          <p:cNvSpPr/>
          <p:nvPr/>
        </p:nvSpPr>
        <p:spPr>
          <a:xfrm>
            <a:off x="4480560" y="228600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Mock
</a:t>
            </a:r>
            <a:r>
              <a:rPr lang="en-US" sz="1600" dirty="0">
                <a:solidFill>
                  <a:srgbClr val="FFFFFF"/>
                </a:solidFill>
              </a:rPr>
              <a:t>Verificerer at specifikke</a:t>
            </a:r>
            <a:endParaRPr lang="en-US" sz="2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metoder blev kaldt.</a:t>
            </a:r>
            <a:endParaRPr lang="en-US" sz="2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Interaktions-test.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8229600" y="2286000"/>
            <a:ext cx="3383280" cy="2194560"/>
          </a:xfrm>
          <a:prstGeom prst="roundRect">
            <a:avLst>
              <a:gd name="adj" fmla="val 6250"/>
            </a:avLst>
          </a:prstGeom>
          <a:solidFill>
            <a:srgbClr val="40A02B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3" name="Text 11"/>
          <p:cNvSpPr/>
          <p:nvPr/>
        </p:nvSpPr>
        <p:spPr>
          <a:xfrm>
            <a:off x="8229600" y="228600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Fake
</a:t>
            </a:r>
            <a:r>
              <a:rPr lang="en-US" sz="1600" dirty="0">
                <a:solidFill>
                  <a:srgbClr val="FFFFFF"/>
                </a:solidFill>
              </a:rPr>
              <a:t>Forenklet implementering.</a:t>
            </a:r>
            <a:endParaRPr lang="en-US" sz="2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Fx in-memory database</a:t>
            </a:r>
            <a:endParaRPr lang="en-US" sz="2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i stedet for SQL Server.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1520" y="484632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 bruger Moq biblioteket til at oprette mocks i C#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NuGet pakke: Moq version 4.20+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2D62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02D62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4" name="Text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UCL - Programmering 2. semester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D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Moq - Grundlæggende brug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1066800"/>
            <a:ext cx="10698480" cy="3779520"/>
          </a:xfrm>
          <a:prstGeom prst="roundRect">
            <a:avLst>
              <a:gd name="adj" fmla="val 1923"/>
            </a:avLst>
          </a:prstGeom>
          <a:solidFill>
            <a:srgbClr val="1E1E2E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7" name="Text 5"/>
          <p:cNvSpPr/>
          <p:nvPr/>
        </p:nvSpPr>
        <p:spPr>
          <a:xfrm>
            <a:off x="817418" y="1097973"/>
            <a:ext cx="10332720" cy="37282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// 1. Opret en mock af et interface</a:t>
            </a:r>
            <a:endParaRPr lang="en-US" sz="15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var mockRepo = new Mock&lt;ILejemaalRepository&gt;();</a:t>
            </a:r>
            <a:endParaRPr lang="en-US" sz="15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endParaRPr lang="en-US" sz="15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// 2. Setup - definer hvad mock'en skal returnere</a:t>
            </a:r>
            <a:endParaRPr lang="en-US" sz="15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mockRepo.Setup(repo =&gt; repo.HentLejemaal())</a:t>
            </a:r>
            <a:endParaRPr lang="en-US" sz="15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.Returns(new List&lt;Lejemaal&gt; { ... });</a:t>
            </a:r>
            <a:endParaRPr lang="en-US" sz="15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endParaRPr lang="en-US" sz="15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// 3. Brug mock'ens Object som den rigtige dependency</a:t>
            </a:r>
            <a:endParaRPr lang="en-US" sz="15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var service = new EjendomBeregnerService(mockRepo.Object);</a:t>
            </a:r>
            <a:endParaRPr lang="en-US" sz="15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endParaRPr lang="en-US" sz="15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// 4. Kald metoden (Act)</a:t>
            </a:r>
            <a:endParaRPr lang="en-US" sz="15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var result = (service as IEjendomBeregnerService).BeregnKvadratmeter();</a:t>
            </a:r>
            <a:endParaRPr lang="en-US" sz="15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endParaRPr lang="en-US" sz="15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// 5. Verificér at metoden blev kaldt (valgfrit)</a:t>
            </a:r>
            <a:endParaRPr lang="en-US" sz="15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mockRepo.Verify(repo =&gt; repo.HentLejemaal(), Times.Once);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484632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Mock&lt;T&gt; opretter en mock-instans af interface T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Setup() definerer returværdi for en metode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.Object giver den mockede instans til brug i koden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Verify() checker at en metode blev kaldt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2D62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02D62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4" name="Text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UCL - Programmering 2. semester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D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Moq - Komplet eksempel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1087582"/>
            <a:ext cx="10698480" cy="5265593"/>
          </a:xfrm>
          <a:prstGeom prst="roundRect">
            <a:avLst>
              <a:gd name="adj" fmla="val 1147"/>
            </a:avLst>
          </a:prstGeom>
          <a:solidFill>
            <a:srgbClr val="1E1E2E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7" name="Text 5"/>
          <p:cNvSpPr/>
          <p:nvPr/>
        </p:nvSpPr>
        <p:spPr>
          <a:xfrm>
            <a:off x="817418" y="1087582"/>
            <a:ext cx="10332720" cy="53547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public class CalculatorServiceTest</a:t>
            </a:r>
            <a:endParaRPr lang="en-US" sz="13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[Fact]</a:t>
            </a:r>
            <a:endParaRPr lang="en-US" sz="12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public void Calculate_Returns_Sum_Of_Repository_Values()</a:t>
            </a:r>
            <a:endParaRPr lang="en-US" sz="12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{</a:t>
            </a:r>
            <a:endParaRPr lang="en-US" sz="12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// Arrange</a:t>
            </a:r>
            <a:endParaRPr lang="en-US" sz="12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var data = new List&lt;Lejemaal&gt;</a:t>
            </a:r>
            <a:endParaRPr lang="en-US" sz="12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{</a:t>
            </a:r>
            <a:endParaRPr lang="en-US" sz="12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    new Lejemaal { Lejlighednummer = 1, Kvadratmeter = 50.0, AntalRum = 2 },</a:t>
            </a:r>
            <a:endParaRPr lang="en-US" sz="12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    new Lejemaal { Lejlighednummer = 2, Kvadratmeter = 75.0, AntalRum = 3 }</a:t>
            </a:r>
            <a:endParaRPr lang="en-US" sz="12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};</a:t>
            </a:r>
            <a:endParaRPr lang="en-US" sz="12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var expected = 125.0;</a:t>
            </a:r>
            <a:endParaRPr lang="en-US" sz="12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var mockRepo = new Mock&lt;ILejemaalRepository&gt;();</a:t>
            </a:r>
            <a:endParaRPr lang="en-US" sz="12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mockRepo.Setup(r =&gt; r.HentLejemaal()).Returns(data);</a:t>
            </a:r>
            <a:endParaRPr lang="en-US" sz="12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var sut = new EjendomBeregnerService(mockRepo.Object)</a:t>
            </a:r>
            <a:endParaRPr lang="en-US" sz="12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              as IEjendomBeregnerService;</a:t>
            </a:r>
            <a:endParaRPr lang="en-US" sz="12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// Act</a:t>
            </a:r>
            <a:endParaRPr lang="en-US" sz="12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var actual = sut.BeregnKvadratmeter();</a:t>
            </a:r>
            <a:endParaRPr lang="en-US" sz="12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// Assert</a:t>
            </a:r>
            <a:endParaRPr lang="en-US" sz="12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Assert.Equal(expected, actual);</a:t>
            </a:r>
            <a:endParaRPr lang="en-US" sz="12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}</a:t>
            </a:r>
            <a:endParaRPr lang="en-US" sz="12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2D62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02D62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4" name="Text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UCL - Programmering 2. semester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D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Dependency Inversion &amp; Testbarhed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9050">
            <a:solidFill>
              <a:srgbClr val="0056A4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7" name="Text 5"/>
          <p:cNvSpPr/>
          <p:nvPr/>
        </p:nvSpPr>
        <p:spPr>
          <a:xfrm>
            <a:off x="914400" y="11887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2D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High-level moduler skal ikke afhænge af low-level moduler.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002D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Begge skal afhænge af abstraktioner (interfaces).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Uden DIP (svær at teste):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5029200" cy="1985010"/>
          </a:xfrm>
          <a:prstGeom prst="roundRect">
            <a:avLst>
              <a:gd name="adj" fmla="val 3788"/>
            </a:avLst>
          </a:prstGeom>
          <a:solidFill>
            <a:srgbClr val="1E1E2E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0" name="Text 8"/>
          <p:cNvSpPr/>
          <p:nvPr/>
        </p:nvSpPr>
        <p:spPr>
          <a:xfrm>
            <a:off x="914400" y="2971800"/>
            <a:ext cx="4663440" cy="1771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public class EjendomBeregnerService {</a:t>
            </a:r>
            <a:endParaRPr lang="en-US" sz="13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public double BeregnKvadratmeter() {</a:t>
            </a:r>
            <a:endParaRPr lang="en-US" sz="13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// Direkte afhængighed af filsystemet!</a:t>
            </a:r>
            <a:endParaRPr lang="en-US" sz="13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string[] data = File.ReadAllLines("data.csv");</a:t>
            </a:r>
            <a:endParaRPr lang="en-US" sz="13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// ... beregning</a:t>
            </a:r>
            <a:endParaRPr lang="en-US" sz="13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}</a:t>
            </a:r>
            <a:endParaRPr lang="en-US" sz="13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2377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0A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 DIP (testbar):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17920" y="2834640"/>
            <a:ext cx="5212080" cy="1985010"/>
          </a:xfrm>
          <a:prstGeom prst="roundRect">
            <a:avLst>
              <a:gd name="adj" fmla="val 3378"/>
            </a:avLst>
          </a:prstGeom>
          <a:solidFill>
            <a:srgbClr val="1E1E2E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3" name="Text 11"/>
          <p:cNvSpPr/>
          <p:nvPr/>
        </p:nvSpPr>
        <p:spPr>
          <a:xfrm>
            <a:off x="6400800" y="2971800"/>
            <a:ext cx="4846320" cy="18478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public class EjendomBeregnerService {</a:t>
            </a:r>
            <a:endParaRPr lang="en-US" sz="13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private readonly ILejemaalRepository _repo;</a:t>
            </a:r>
            <a:endParaRPr lang="en-US" sz="13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endParaRPr lang="en-US" sz="13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public EjendomBeregnerService(</a:t>
            </a:r>
            <a:endParaRPr lang="en-US" sz="13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ILejemaalRepository repo) {</a:t>
            </a:r>
            <a:endParaRPr lang="en-US" sz="13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_repo = repo;  // Interface dependency</a:t>
            </a:r>
            <a:endParaRPr lang="en-US" sz="13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}</a:t>
            </a:r>
            <a:endParaRPr lang="en-US" sz="13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}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502920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Interfaces gør det muligt at erstatte afhængigheder med mocks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Constructor injection giver eksplicitte afhængigheder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Koden bliver løst koblet og nemmere at vedligeholde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2D62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02D62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4" name="Text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UCL - Programmering 2. semester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D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Adapter Pattern - Testbar fil-adgang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Problem: File.ReadAllLines() kan ikke mockes direkte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Løsning: Indkapsle fil-adgang bag et interface (Adapter Pattern)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956816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56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Interface: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321433"/>
            <a:ext cx="5029200" cy="1536192"/>
          </a:xfrm>
          <a:prstGeom prst="roundRect">
            <a:avLst>
              <a:gd name="adj" fmla="val 5952"/>
            </a:avLst>
          </a:prstGeom>
          <a:solidFill>
            <a:srgbClr val="1E1E2E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9" name="Text 7"/>
          <p:cNvSpPr/>
          <p:nvPr/>
        </p:nvSpPr>
        <p:spPr>
          <a:xfrm>
            <a:off x="762000" y="2447544"/>
            <a:ext cx="466344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public interface IFile</a:t>
            </a:r>
            <a:endParaRPr lang="en-US" sz="15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{</a:t>
            </a:r>
            <a:endParaRPr lang="en-US" sz="15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string[] ReadAllLines();</a:t>
            </a:r>
            <a:endParaRPr lang="en-US" sz="15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}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17920" y="1956816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56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Adapter (produktion):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17920" y="2340864"/>
            <a:ext cx="5212080" cy="2482977"/>
          </a:xfrm>
          <a:prstGeom prst="roundRect">
            <a:avLst>
              <a:gd name="adj" fmla="val 2778"/>
            </a:avLst>
          </a:prstGeom>
          <a:solidFill>
            <a:srgbClr val="1E1E2E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2" name="Text 10"/>
          <p:cNvSpPr/>
          <p:nvPr/>
        </p:nvSpPr>
        <p:spPr>
          <a:xfrm>
            <a:off x="6217920" y="2400681"/>
            <a:ext cx="484632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public class FileAdapter : IFile</a:t>
            </a:r>
            <a:endParaRPr lang="en-US" sz="14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{</a:t>
            </a:r>
            <a:endParaRPr lang="en-US" sz="14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private readonly string _path;</a:t>
            </a:r>
            <a:endParaRPr lang="en-US" sz="14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public FileAdapter(string path) {</a:t>
            </a:r>
            <a:endParaRPr lang="en-US" sz="14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_path = path;</a:t>
            </a:r>
            <a:endParaRPr lang="en-US" sz="14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}</a:t>
            </a:r>
            <a:endParaRPr lang="en-US" sz="14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string[] IFile.ReadAllLines() {</a:t>
            </a:r>
            <a:endParaRPr lang="en-US" sz="14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return File.ReadAllLines(_path);</a:t>
            </a:r>
            <a:endParaRPr lang="en-US" sz="14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}</a:t>
            </a:r>
            <a:endParaRPr lang="en-US" sz="14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}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0A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test - mock af IFile: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" y="4937760"/>
            <a:ext cx="10698480" cy="1536192"/>
          </a:xfrm>
          <a:prstGeom prst="roundRect">
            <a:avLst>
              <a:gd name="adj" fmla="val 5952"/>
            </a:avLst>
          </a:prstGeom>
          <a:solidFill>
            <a:srgbClr val="1E1E2E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5" name="Text 13"/>
          <p:cNvSpPr/>
          <p:nvPr/>
        </p:nvSpPr>
        <p:spPr>
          <a:xfrm>
            <a:off x="914400" y="5074920"/>
            <a:ext cx="1033272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var mockFile = new Mock&lt;IFile&gt;();</a:t>
            </a:r>
            <a:endParaRPr lang="en-US" sz="14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mockFile.Setup(f =&gt; f.ReadAllLines())</a:t>
            </a:r>
            <a:endParaRPr lang="en-US" sz="14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.Returns(new[] { "header", "\"101\"; \"755\"; \"3\"" });</a:t>
            </a:r>
            <a:endParaRPr lang="en-US" sz="1400" dirty="0"/>
          </a:p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CDD6F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var repo = new LejemaalFraFilRepository(mockFile.Object);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2D62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02D62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4" name="Text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UCL - Programmering 2. semester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D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Opsummering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tests tester kode isoleret fra afhængigheder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xUnit v3: [Fact] for enkelt-tests, [Theory] for parameteriserede tests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AAA-mønstret: Arrange - Act - Assert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Moq bruges til at oprette mocks af interfaces</a:t>
            </a:r>
            <a:endParaRPr lang="en-US" sz="2000" dirty="0"/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Mock&lt;T&gt;, Setup(), .Object, Verify()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Dependency Inversion Principle muliggør testbarhed</a:t>
            </a:r>
            <a:endParaRPr lang="en-US" sz="2000" dirty="0"/>
          </a:p>
          <a:p>
            <a:pPr lvl="1"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Afhæng af abstraktioner (interfaces), ikke konkrete klasser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Adapter Pattern indkapsler eksterne afhængigheder (fx filsystem)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5120640"/>
            <a:ext cx="10698480" cy="640080"/>
          </a:xfrm>
          <a:prstGeom prst="roundRect">
            <a:avLst>
              <a:gd name="adj" fmla="val 14286"/>
            </a:avLst>
          </a:prstGeom>
          <a:solidFill>
            <a:srgbClr val="0056A4"/>
          </a:solidFill>
          <a:ln w="19050">
            <a:solidFill>
              <a:srgbClr val="0056A4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8" name="Text 6"/>
          <p:cNvSpPr/>
          <p:nvPr/>
        </p:nvSpPr>
        <p:spPr>
          <a:xfrm>
            <a:off x="914400" y="51206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Næste skridt: Prøv det selv med EjendomBeregner opgaven!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31520" y="5120640"/>
            <a:ext cx="10698480" cy="640080"/>
          </a:xfrm>
          <a:prstGeom prst="roundRect">
            <a:avLst>
              <a:gd name="adj" fmla="val 14286"/>
            </a:avLst>
          </a:prstGeom>
          <a:solidFill>
            <a:srgbClr val="0056A4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0" name="Text 8"/>
          <p:cNvSpPr/>
          <p:nvPr/>
        </p:nvSpPr>
        <p:spPr>
          <a:xfrm>
            <a:off x="731520" y="51206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Næste skridt: Prøv det selv med EjendomBeregner opgaven!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2D62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3" name="Shape 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002D62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4" name="Text 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UCL - Programmering 2. semester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D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Links og ressourcer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xUnit: https://xunit.net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Moq: https://github.com/devlooped/moq</a:t>
            </a:r>
            <a:endParaRPr lang="en-US" sz="1800" dirty="0"/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Video: Master xUnit Like A Pro in Under 10 Minutes!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Video: xUnit tutorial - How to run unit testing in C#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Video: How to use Moq to mock xUnit tests for a .NET project</a:t>
            </a:r>
            <a:endParaRPr lang="en-US" sz="1800" dirty="0"/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Bog: Domain-Centric Architecture with C#</a:t>
            </a:r>
            <a:endParaRPr lang="en-US" sz="1800" dirty="0"/>
          </a:p>
          <a:p>
            <a:pPr lvl="1"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Kapitel 13: Testing Domain-Centric Applications</a:t>
            </a:r>
            <a:endParaRPr lang="en-US" sz="1800" dirty="0"/>
          </a:p>
          <a:p>
            <a:pPr lvl="1"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Sektion 14.1: The Testing Pyramid</a:t>
            </a:r>
            <a:endParaRPr lang="en-US" sz="1800" dirty="0"/>
          </a:p>
          <a:p>
            <a:pPr lvl="1"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Sektion 14.2: Unit Testing the Domain Layer</a:t>
            </a:r>
            <a:endParaRPr lang="en-US" sz="1800" dirty="0"/>
          </a:p>
          <a:p>
            <a:pPr lvl="1">
              <a:spcAft>
                <a:spcPts val="600"/>
              </a:spcAft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Sektion 14.4: Mocking and Test Doubles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1608</Words>
  <Application>Microsoft Office PowerPoint</Application>
  <PresentationFormat>Widescreen</PresentationFormat>
  <Paragraphs>283</Paragraphs>
  <Slides>16</Slides>
  <Notes>16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16</vt:i4>
      </vt:variant>
    </vt:vector>
  </HeadingPairs>
  <TitlesOfParts>
    <vt:vector size="20" baseType="lpstr">
      <vt:lpstr>Arial</vt:lpstr>
      <vt:lpstr>Cascadia Code</vt:lpstr>
      <vt:lpstr>Segoe UI</vt:lpstr>
      <vt:lpstr>Office Theme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Kaj Steen Bromose</cp:lastModifiedBy>
  <cp:revision>2</cp:revision>
  <dcterms:created xsi:type="dcterms:W3CDTF">2026-02-21T17:17:07Z</dcterms:created>
  <dcterms:modified xsi:type="dcterms:W3CDTF">2026-02-25T10:48:15Z</dcterms:modified>
</cp:coreProperties>
</file>