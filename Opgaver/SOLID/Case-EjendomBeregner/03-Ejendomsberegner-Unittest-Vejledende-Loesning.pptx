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8" d="100"/>
          <a:sy n="138" d="100"/>
        </p:scale>
        <p:origin x="162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24458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D6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0" y="3063240"/>
            <a:ext cx="5760720" cy="36576"/>
          </a:xfrm>
          <a:prstGeom prst="rect">
            <a:avLst/>
          </a:prstGeom>
          <a:solidFill>
            <a:srgbClr val="008CBA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3" name="Text 1"/>
          <p:cNvSpPr/>
          <p:nvPr/>
        </p:nvSpPr>
        <p:spPr>
          <a:xfrm>
            <a:off x="914400" y="164592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Vejledende Løsning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237744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8C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EjendomBeregner - Unit Test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914400" y="347472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A0C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03-Ejendomsberegner-Unittest
</a:t>
            </a:r>
            <a:r>
              <a:rPr lang="en-US" sz="2000" dirty="0">
                <a:solidFill>
                  <a:srgbClr val="8899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Programmering - 2. semester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002D62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3" name="Shape 1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002D62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4" name="Text 2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UCL - Programmering 2. semester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22860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2D6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Opgaven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10698480" cy="82296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 w="19050">
            <a:solidFill>
              <a:srgbClr val="0056A4"/>
            </a:solidFill>
            <a:prstDash val="solid"/>
          </a:ln>
        </p:spPr>
        <p:txBody>
          <a:bodyPr/>
          <a:lstStyle/>
          <a:p>
            <a:endParaRPr lang="da-DK"/>
          </a:p>
        </p:txBody>
      </p:sp>
      <p:sp>
        <p:nvSpPr>
          <p:cNvPr id="7" name="Text 5"/>
          <p:cNvSpPr/>
          <p:nvPr/>
        </p:nvSpPr>
        <p:spPr>
          <a:xfrm>
            <a:off x="914400" y="128016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2D6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Lav Unit Tests til "Ejendomsberegner - Interface og IoC" med xUnit v3 og Moq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23774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20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Minimumskrav:</a:t>
            </a:r>
            <a:endParaRPr lang="en-US" sz="2000" dirty="0"/>
          </a:p>
          <a:p>
            <a:pPr lvl="1">
              <a:spcAft>
                <a:spcPts val="600"/>
              </a:spcAft>
            </a:pPr>
            <a:r>
              <a:rPr lang="en-US" sz="20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 test af BeregnKvadratmeter metoden</a:t>
            </a:r>
            <a:endParaRPr lang="en-US" sz="2000" dirty="0"/>
          </a:p>
          <a:p>
            <a:pPr lvl="1">
              <a:spcAft>
                <a:spcPts val="600"/>
              </a:spcAft>
            </a:pPr>
            <a:r>
              <a:rPr lang="en-US" sz="20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 test af indlæsning fra tekstfil</a:t>
            </a:r>
            <a:endParaRPr lang="en-US" sz="2000" dirty="0"/>
          </a:p>
          <a:p>
            <a:pPr>
              <a:spcAft>
                <a:spcPts val="600"/>
              </a:spcAft>
            </a:pPr>
            <a:endParaRPr lang="en-US" sz="2000" dirty="0"/>
          </a:p>
          <a:p>
            <a:pPr>
              <a:spcAft>
                <a:spcPts val="600"/>
              </a:spcAft>
            </a:pPr>
            <a:r>
              <a:rPr lang="en-US" sz="20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Hints fra opgaven:</a:t>
            </a:r>
            <a:endParaRPr lang="en-US" sz="2000" dirty="0"/>
          </a:p>
          <a:p>
            <a:pPr lvl="1">
              <a:spcAft>
                <a:spcPts val="600"/>
              </a:spcAft>
            </a:pPr>
            <a:r>
              <a:rPr lang="en-US" sz="20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Anvend Moq til at mocke afhængigheder</a:t>
            </a:r>
            <a:endParaRPr lang="en-US" sz="2000" dirty="0"/>
          </a:p>
          <a:p>
            <a:pPr lvl="1">
              <a:spcAft>
                <a:spcPts val="600"/>
              </a:spcAft>
            </a:pPr>
            <a:r>
              <a:rPr lang="en-US" sz="20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Lav en adapter indkapsling af File.ReadAllLines()</a:t>
            </a:r>
            <a:endParaRPr lang="en-US" sz="2000" dirty="0"/>
          </a:p>
          <a:p>
            <a:pPr lvl="1">
              <a:spcAft>
                <a:spcPts val="600"/>
              </a:spcAft>
            </a:pPr>
            <a:r>
              <a:rPr lang="en-US" sz="20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Brug Adapter Pattern (IFile interface)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002D62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3" name="Shape 1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002D62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4" name="Text 2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UCL - Programmering 2. semester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22860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2D6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Arkitektur oversigt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3566160" cy="3200400"/>
          </a:xfrm>
          <a:prstGeom prst="roundRect">
            <a:avLst>
              <a:gd name="adj" fmla="val 4286"/>
            </a:avLst>
          </a:prstGeom>
          <a:solidFill>
            <a:srgbClr val="0056A4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7" name="Text 5"/>
          <p:cNvSpPr/>
          <p:nvPr/>
        </p:nvSpPr>
        <p:spPr>
          <a:xfrm>
            <a:off x="640080" y="1554480"/>
            <a:ext cx="32004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Ejendomsberegner.Core
</a:t>
            </a: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Model/Lejemaal.cs</a:t>
            </a:r>
            <a:endParaRPr lang="en-US" sz="20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IEjendomBeregnerService</a:t>
            </a:r>
            <a:endParaRPr lang="en-US" sz="20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ILejemaalRepository</a:t>
            </a:r>
            <a:endParaRPr lang="en-US" sz="20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EjendomBeregnerService</a:t>
            </a:r>
            <a:endParaRPr lang="en-US" sz="20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LejemaalFraFilRepository</a:t>
            </a:r>
            <a:endParaRPr lang="en-US" sz="20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FileReaderAdapter/IFile</a:t>
            </a:r>
            <a:endParaRPr lang="en-US" sz="20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FileReaderAdapter/FileAdapter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297680" y="1371600"/>
            <a:ext cx="3566160" cy="3200400"/>
          </a:xfrm>
          <a:prstGeom prst="roundRect">
            <a:avLst>
              <a:gd name="adj" fmla="val 4286"/>
            </a:avLst>
          </a:prstGeom>
          <a:solidFill>
            <a:srgbClr val="40A02B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9" name="Text 7"/>
          <p:cNvSpPr/>
          <p:nvPr/>
        </p:nvSpPr>
        <p:spPr>
          <a:xfrm>
            <a:off x="4480560" y="1554480"/>
            <a:ext cx="32004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Ejendomsberegner.Test
</a:t>
            </a: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EjendomsberegnerServiceTest</a:t>
            </a:r>
            <a:endParaRPr lang="en-US" sz="20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LejemaalFraFilRepositoryTest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xUnit v3 + Moq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138160" y="1371600"/>
            <a:ext cx="3566160" cy="3200400"/>
          </a:xfrm>
          <a:prstGeom prst="roundRect">
            <a:avLst>
              <a:gd name="adj" fmla="val 4286"/>
            </a:avLst>
          </a:prstGeom>
          <a:solidFill>
            <a:srgbClr val="008CBA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11" name="Text 9"/>
          <p:cNvSpPr/>
          <p:nvPr/>
        </p:nvSpPr>
        <p:spPr>
          <a:xfrm>
            <a:off x="8321040" y="1554480"/>
            <a:ext cx="32004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EjendomsberegnerIoC
</a:t>
            </a: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Program.cs</a:t>
            </a:r>
            <a:endParaRPr lang="en-US" sz="20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LejemaalData.csv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Microsoft.Extensions.DI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114800" y="47548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← refererer til →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31520" y="51206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8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og IoC projekterne refererer begge til Core</a:t>
            </a:r>
            <a:endParaRPr lang="en-US" sz="1800" dirty="0"/>
          </a:p>
          <a:p>
            <a:pPr>
              <a:spcAft>
                <a:spcPts val="600"/>
              </a:spcAft>
            </a:pPr>
            <a:r>
              <a:rPr lang="en-US" sz="18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har ingen afhængigheder til de andre projekter (DIP)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002D62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3" name="Shape 1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002D62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4" name="Text 2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UCL - Programmering 2. semester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22860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2D6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Model: Lejemaal (record)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731520" y="1371600"/>
            <a:ext cx="10698480" cy="2376055"/>
          </a:xfrm>
          <a:prstGeom prst="roundRect">
            <a:avLst>
              <a:gd name="adj" fmla="val 3571"/>
            </a:avLst>
          </a:prstGeom>
          <a:solidFill>
            <a:srgbClr val="1E1E2E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7" name="Text 5"/>
          <p:cNvSpPr/>
          <p:nvPr/>
        </p:nvSpPr>
        <p:spPr>
          <a:xfrm>
            <a:off x="914400" y="1481328"/>
            <a:ext cx="10332720" cy="21762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8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namespace Ejendomsberegner.Core.Model;</a:t>
            </a:r>
            <a:endParaRPr lang="en-US" sz="18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endParaRPr lang="en-US" sz="18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8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public record Lejemaal</a:t>
            </a:r>
            <a:endParaRPr lang="en-US" sz="18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8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{</a:t>
            </a:r>
            <a:endParaRPr lang="en-US" sz="18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8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public int Lejlighednummer { get; set; }</a:t>
            </a:r>
            <a:endParaRPr lang="en-US" sz="18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8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public double Kvadratmeter { get; set; }</a:t>
            </a:r>
            <a:endParaRPr lang="en-US" sz="18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8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public int AntalRum { get; set; }</a:t>
            </a:r>
            <a:endParaRPr lang="en-US" sz="18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8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}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384048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8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 type giver automatisk Equals(), GetHashCode(), ToString()</a:t>
            </a:r>
            <a:endParaRPr lang="en-US" sz="1800" dirty="0"/>
          </a:p>
          <a:p>
            <a:pPr>
              <a:spcAft>
                <a:spcPts val="600"/>
              </a:spcAft>
            </a:pPr>
            <a:r>
              <a:rPr lang="en-US" sz="18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Vigtigt for Assert.Equal() i tests - records sammenlignes på værdi</a:t>
            </a:r>
            <a:endParaRPr lang="en-US" sz="1800" dirty="0"/>
          </a:p>
          <a:p>
            <a:pPr>
              <a:spcAft>
                <a:spcPts val="600"/>
              </a:spcAft>
            </a:pPr>
            <a:r>
              <a:rPr lang="en-US" sz="18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 properties: Lejlighednummer, Kvadratmeter, AntalRum</a:t>
            </a:r>
            <a:endParaRPr lang="en-US" sz="1800" dirty="0"/>
          </a:p>
          <a:p>
            <a:pPr>
              <a:spcAft>
                <a:spcPts val="600"/>
              </a:spcAft>
            </a:pPr>
            <a:r>
              <a:rPr lang="en-US" sz="18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Svarer til en linje i CSV-filen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002D62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3" name="Shape 1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002D62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4" name="Text 2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UCL - Programmering 2. semester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22860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2D6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Interfaces - nøglen til testbarhed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731520" y="1005840"/>
            <a:ext cx="10698480" cy="3683925"/>
          </a:xfrm>
          <a:prstGeom prst="roundRect">
            <a:avLst>
              <a:gd name="adj" fmla="val 1818"/>
            </a:avLst>
          </a:prstGeom>
          <a:solidFill>
            <a:srgbClr val="1E1E2E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7" name="Text 5"/>
          <p:cNvSpPr/>
          <p:nvPr/>
        </p:nvSpPr>
        <p:spPr>
          <a:xfrm>
            <a:off x="831273" y="1115569"/>
            <a:ext cx="10332720" cy="35741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4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// Service interface</a:t>
            </a:r>
            <a:endParaRPr lang="en-US" sz="14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4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public interface IEjendomBeregnerService</a:t>
            </a:r>
            <a:endParaRPr lang="en-US" sz="14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4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{</a:t>
            </a:r>
            <a:endParaRPr lang="en-US" sz="14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4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double BeregnKvadratmeter();</a:t>
            </a:r>
            <a:endParaRPr lang="en-US" sz="14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4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}</a:t>
            </a:r>
            <a:endParaRPr lang="en-US" sz="14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endParaRPr lang="en-US" sz="14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4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// Repository interface</a:t>
            </a:r>
            <a:endParaRPr lang="en-US" sz="14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4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public interface ILejemaalRepository</a:t>
            </a:r>
            <a:endParaRPr lang="en-US" sz="14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4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{</a:t>
            </a:r>
            <a:endParaRPr lang="en-US" sz="14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4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List&lt;Lejemaal&gt; HentLejemaal();</a:t>
            </a:r>
            <a:endParaRPr lang="en-US" sz="14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4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}</a:t>
            </a:r>
            <a:endParaRPr lang="en-US" sz="14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endParaRPr lang="en-US" sz="14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4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// File adapter interface</a:t>
            </a:r>
            <a:endParaRPr lang="en-US" sz="14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4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public interface IFile</a:t>
            </a:r>
            <a:endParaRPr lang="en-US" sz="14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4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{</a:t>
            </a:r>
            <a:endParaRPr lang="en-US" sz="14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4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string[] ReadAllLines();</a:t>
            </a:r>
            <a:endParaRPr lang="en-US" sz="14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4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484632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8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Hvert interface kan mockes i unit tests</a:t>
            </a:r>
            <a:endParaRPr lang="en-US" sz="1800" dirty="0"/>
          </a:p>
          <a:p>
            <a:pPr>
              <a:spcAft>
                <a:spcPts val="600"/>
              </a:spcAft>
            </a:pPr>
            <a:r>
              <a:rPr lang="en-US" sz="18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IEjendomBeregnerService - beregningslogik</a:t>
            </a:r>
            <a:endParaRPr lang="en-US" sz="1800" dirty="0"/>
          </a:p>
          <a:p>
            <a:pPr>
              <a:spcAft>
                <a:spcPts val="600"/>
              </a:spcAft>
            </a:pPr>
            <a:r>
              <a:rPr lang="en-US" sz="18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ILejemaalRepository - dataadgang</a:t>
            </a:r>
            <a:endParaRPr lang="en-US" sz="1800" dirty="0"/>
          </a:p>
          <a:p>
            <a:pPr>
              <a:spcAft>
                <a:spcPts val="600"/>
              </a:spcAft>
            </a:pPr>
            <a:r>
              <a:rPr lang="en-US" sz="18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IFile - adapter til filsystem (File.ReadAllLines)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002D62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3" name="Shape 1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002D62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4" name="Text 2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UCL - Programmering 2. semester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22860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2D6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EjendomBeregnerService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731520" y="1005840"/>
            <a:ext cx="10698480" cy="3725487"/>
          </a:xfrm>
          <a:prstGeom prst="roundRect">
            <a:avLst>
              <a:gd name="adj" fmla="val 1818"/>
            </a:avLst>
          </a:prstGeom>
          <a:solidFill>
            <a:srgbClr val="1E1E2E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7" name="Text 5"/>
          <p:cNvSpPr/>
          <p:nvPr/>
        </p:nvSpPr>
        <p:spPr>
          <a:xfrm>
            <a:off x="762000" y="1042416"/>
            <a:ext cx="10332720" cy="4180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public class EjendomBeregnerService : IEjendomBeregnerService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{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private readonly ILejemaalRepository _repo;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public EjendomBeregnerService(ILejemaalRepository repo)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{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_repo = repo;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}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double IEjendomBeregnerService.BeregnKvadratmeter()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{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var lejemaalene = _repo.HentLejemaal();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var kvadratmeter = 0.0;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foreach (var lejemaal in lejemaalene)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  kvadratmeter += lejemaal.Kvadratmeter;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return kvadratmeter;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}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}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502920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8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Constructor injection: ILejemaalRepository injiceres</a:t>
            </a:r>
            <a:endParaRPr lang="en-US" sz="1800" dirty="0"/>
          </a:p>
          <a:p>
            <a:pPr>
              <a:spcAft>
                <a:spcPts val="600"/>
              </a:spcAft>
            </a:pPr>
            <a:r>
              <a:rPr lang="en-US" sz="18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BeregnKvadratmeter henter lejemål og summerer kvadratmeter</a:t>
            </a:r>
            <a:endParaRPr lang="en-US" sz="1800" dirty="0"/>
          </a:p>
          <a:p>
            <a:pPr>
              <a:spcAft>
                <a:spcPts val="600"/>
              </a:spcAft>
            </a:pPr>
            <a:r>
              <a:rPr lang="en-US" sz="18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Eksplicit interface-implementering (IEjendomBeregnerService.)</a:t>
            </a:r>
            <a:endParaRPr lang="en-US" sz="1800" dirty="0"/>
          </a:p>
          <a:p>
            <a:pPr>
              <a:spcAft>
                <a:spcPts val="600"/>
              </a:spcAft>
            </a:pPr>
            <a:r>
              <a:rPr lang="en-US" sz="18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at teste: Mock ILejemaalRepository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002D62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3" name="Shape 1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002D62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4" name="Text 2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UCL - Programmering 2. semester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22860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2D6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1: EjendomsberegnerServiceTest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731520" y="1188720"/>
            <a:ext cx="10698480" cy="640080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 w="19050">
            <a:solidFill>
              <a:srgbClr val="0056A4"/>
            </a:solidFill>
            <a:prstDash val="solid"/>
          </a:ln>
        </p:spPr>
        <p:txBody>
          <a:bodyPr/>
          <a:lstStyle/>
          <a:p>
            <a:endParaRPr lang="da-DK"/>
          </a:p>
        </p:txBody>
      </p:sp>
      <p:sp>
        <p:nvSpPr>
          <p:cNvPr id="7" name="Text 5"/>
          <p:cNvSpPr/>
          <p:nvPr/>
        </p:nvSpPr>
        <p:spPr>
          <a:xfrm>
            <a:off x="914400" y="118872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2D6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Mock ILejemaalRepository → test at BeregnKvadratmeter summerer korrekt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31520" y="2011680"/>
            <a:ext cx="10698480" cy="4222865"/>
          </a:xfrm>
          <a:prstGeom prst="roundRect">
            <a:avLst>
              <a:gd name="adj" fmla="val 1818"/>
            </a:avLst>
          </a:prstGeom>
          <a:solidFill>
            <a:srgbClr val="1E1E2E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9" name="Text 7"/>
          <p:cNvSpPr/>
          <p:nvPr/>
        </p:nvSpPr>
        <p:spPr>
          <a:xfrm>
            <a:off x="914400" y="2121408"/>
            <a:ext cx="10332720" cy="41131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3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[Fact]</a:t>
            </a:r>
            <a:endParaRPr lang="en-US" sz="13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3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public void Given_BeregnKvadratmeter_Faar_LejemaalListe__Then_Beregnes_Korrekt()</a:t>
            </a:r>
            <a:endParaRPr lang="en-US" sz="13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3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{</a:t>
            </a:r>
            <a:endParaRPr lang="en-US" sz="13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3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// Arrange</a:t>
            </a:r>
            <a:endParaRPr lang="en-US" sz="13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3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var lejemaal = new List&lt;Lejemaal&gt;();</a:t>
            </a:r>
            <a:endParaRPr lang="en-US" sz="13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3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lejemaal.Add(new Lejemaal { Lejlighednummer = 1, Kvadratmeter = 50.0, AntalRum = 2 });</a:t>
            </a:r>
            <a:endParaRPr lang="en-US" sz="13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3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lejemaal.Add(new Lejemaal { Lejlighednummer = 2, Kvadratmeter = 75.0, AntalRum = 3 });</a:t>
            </a:r>
            <a:endParaRPr lang="en-US" sz="13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endParaRPr lang="en-US" sz="13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3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var expected = 125.0;</a:t>
            </a:r>
            <a:endParaRPr lang="en-US" sz="13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endParaRPr lang="en-US" sz="13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3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var lejemaalRepo = new Mock&lt;ILejemaalRepository&gt;();</a:t>
            </a:r>
            <a:endParaRPr lang="en-US" sz="13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3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lejemaalRepo.Setup(repo =&gt; repo.HentLejemaal()).Returns(lejemaal);</a:t>
            </a:r>
            <a:endParaRPr lang="en-US" sz="13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3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var service = new EjendomBeregnerService(lejemaalRepo.Object)</a:t>
            </a:r>
            <a:endParaRPr lang="en-US" sz="13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3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            as IEjendomBeregnerService;</a:t>
            </a:r>
            <a:endParaRPr lang="en-US" sz="13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endParaRPr lang="en-US" sz="13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3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// Act</a:t>
            </a:r>
            <a:endParaRPr lang="en-US" sz="13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3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var actual = service.BeregnKvadratmeter();</a:t>
            </a:r>
            <a:endParaRPr lang="en-US" sz="13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endParaRPr lang="en-US" sz="13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3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// Assert</a:t>
            </a:r>
            <a:endParaRPr lang="en-US" sz="13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3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Assert.Equal(expected, actual);</a:t>
            </a:r>
            <a:endParaRPr lang="en-US" sz="13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3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}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002D62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3" name="Shape 1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002D62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4" name="Text 2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UCL - Programmering 2. semester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22860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2D6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Analyse: EjendomsberegnerServiceTest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3566160" cy="4114800"/>
          </a:xfrm>
          <a:prstGeom prst="roundRect">
            <a:avLst>
              <a:gd name="adj" fmla="val 3846"/>
            </a:avLst>
          </a:prstGeom>
          <a:solidFill>
            <a:srgbClr val="0056A4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7" name="Text 5"/>
          <p:cNvSpPr/>
          <p:nvPr/>
        </p:nvSpPr>
        <p:spPr>
          <a:xfrm>
            <a:off x="640080" y="1554480"/>
            <a:ext cx="32004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Arrange
</a:t>
            </a:r>
            <a:r>
              <a:rPr lang="en-US" sz="1600" dirty="0">
                <a:solidFill>
                  <a:srgbClr val="FFFFFF"/>
                </a:solidFill>
              </a:rPr>
              <a:t>1. Opret test-data
   (List&lt;Lejemaal&gt;)
2. Definer expected
   (125.0)
3. Mock ILejemaalRepository
   Setup HentLejemaal()
4. Opret SUT via</a:t>
            </a:r>
            <a:endParaRPr lang="en-US" sz="2400" dirty="0"/>
          </a:p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</a:rPr>
              <a:t>   constructor injection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297680" y="1371600"/>
            <a:ext cx="3566160" cy="4114800"/>
          </a:xfrm>
          <a:prstGeom prst="roundRect">
            <a:avLst>
              <a:gd name="adj" fmla="val 3846"/>
            </a:avLst>
          </a:prstGeom>
          <a:solidFill>
            <a:srgbClr val="008CBA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9" name="Text 7"/>
          <p:cNvSpPr/>
          <p:nvPr/>
        </p:nvSpPr>
        <p:spPr>
          <a:xfrm>
            <a:off x="4480560" y="1554480"/>
            <a:ext cx="32004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Act
</a:t>
            </a:r>
            <a:r>
              <a:rPr lang="en-US" sz="1600" dirty="0">
                <a:solidFill>
                  <a:srgbClr val="FFFFFF"/>
                </a:solidFill>
              </a:rPr>
              <a:t>Kald BeregnKvadratmeter()
Bemærk cast:
</a:t>
            </a:r>
            <a:r>
              <a:rPr lang="en-US" sz="1400" dirty="0">
                <a:solidFill>
                  <a:srgbClr val="FFFF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service as
  IEjendomBeregnerService
</a:t>
            </a:r>
            <a:r>
              <a:rPr lang="en-US" sz="1600" dirty="0">
                <a:solidFill>
                  <a:srgbClr val="FFFFFF"/>
                </a:solidFill>
              </a:rPr>
              <a:t>Nødvendig pga. eksplicit</a:t>
            </a:r>
            <a:endParaRPr lang="en-US" sz="2400" dirty="0"/>
          </a:p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</a:rPr>
              <a:t>interface-implementering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8138160" y="1371600"/>
            <a:ext cx="3566160" cy="4114800"/>
          </a:xfrm>
          <a:prstGeom prst="roundRect">
            <a:avLst>
              <a:gd name="adj" fmla="val 3846"/>
            </a:avLst>
          </a:prstGeom>
          <a:solidFill>
            <a:srgbClr val="40A02B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11" name="Text 9"/>
          <p:cNvSpPr/>
          <p:nvPr/>
        </p:nvSpPr>
        <p:spPr>
          <a:xfrm>
            <a:off x="8321040" y="1554480"/>
            <a:ext cx="32004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Assert
</a:t>
            </a:r>
            <a:r>
              <a:rPr lang="en-US" sz="1400" dirty="0">
                <a:solidFill>
                  <a:srgbClr val="FFFF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Assert.Equal(
  expected, actual)
</a:t>
            </a:r>
            <a:r>
              <a:rPr lang="en-US" sz="1600" dirty="0">
                <a:solidFill>
                  <a:srgbClr val="FFFFFF"/>
                </a:solidFill>
              </a:rPr>
              <a:t>Sammenligner:
expected = 125.0
actual = 50.0 + 75.0</a:t>
            </a:r>
            <a:endParaRPr lang="en-US" sz="2400" dirty="0"/>
          </a:p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</a:rPr>
              <a:t>       = 125.0 ✓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31520" y="566928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6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SUT = System Under Test = EjendomBeregnerService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002D62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3" name="Shape 1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002D62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4" name="Text 2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UCL - Programmering 2. semester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22860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2D6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LejemaalFraFilRepository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731520" y="1005840"/>
            <a:ext cx="10698480" cy="4376651"/>
          </a:xfrm>
          <a:prstGeom prst="roundRect">
            <a:avLst>
              <a:gd name="adj" fmla="val 1818"/>
            </a:avLst>
          </a:prstGeom>
          <a:solidFill>
            <a:srgbClr val="1E1E2E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7" name="Text 5"/>
          <p:cNvSpPr/>
          <p:nvPr/>
        </p:nvSpPr>
        <p:spPr>
          <a:xfrm>
            <a:off x="762000" y="1042416"/>
            <a:ext cx="10332720" cy="4340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public class LejemaalFraFilRepository : ILejemaalRepository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{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private readonly IFile _dataFile;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public LejemaalFraFilRepository(IFile dataFile)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{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_dataFile = dataFile;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}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List&lt;Lejemaal&gt; ILejemaalRepository.HentLejemaal()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{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var raaData = _dataFile.ReadAllLines().Skip(1).ToArray();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var lejemaal = Konverter(raaData);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return lejemaal;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}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protected Lejemaal DanLejemaalObjekt(string lejemaalData)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{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var lejemaalParts = lejemaalData.Split(';');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if (lejemaalParts.Length &lt; 3)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  throw new Exception("Filformat forkert...");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// ... parsing med TryParse og RemoveQuotes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}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}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5320" y="533400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Constructor injection: IFile (adapter) injiceres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HentLejemaal(): læser linjer, springer header over, konverterer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DanLejemaalObjekt(): parser en enkelt linje til Lejemaal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protected metoder - testes via Stub (se næste slides)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002D62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3" name="Shape 1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002D62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4" name="Text 2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UCL - Programmering 2. semester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22860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2D6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2: LejemaalFraFilRepository - HentLejemaal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731520" y="1087582"/>
            <a:ext cx="10698480" cy="640080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 w="19050">
            <a:solidFill>
              <a:srgbClr val="0056A4"/>
            </a:solidFill>
            <a:prstDash val="solid"/>
          </a:ln>
        </p:spPr>
        <p:txBody>
          <a:bodyPr/>
          <a:lstStyle/>
          <a:p>
            <a:endParaRPr lang="da-DK"/>
          </a:p>
        </p:txBody>
      </p:sp>
      <p:sp>
        <p:nvSpPr>
          <p:cNvPr id="7" name="Text 5"/>
          <p:cNvSpPr/>
          <p:nvPr/>
        </p:nvSpPr>
        <p:spPr>
          <a:xfrm>
            <a:off x="929640" y="1069294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2D6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Mock IFile → test at HentLejemaal parser CSV-data korrekt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31520" y="1763684"/>
            <a:ext cx="10698480" cy="5029200"/>
          </a:xfrm>
          <a:prstGeom prst="roundRect">
            <a:avLst>
              <a:gd name="adj" fmla="val 1818"/>
            </a:avLst>
          </a:prstGeom>
          <a:solidFill>
            <a:srgbClr val="1E1E2E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9" name="Text 7"/>
          <p:cNvSpPr/>
          <p:nvPr/>
        </p:nvSpPr>
        <p:spPr>
          <a:xfrm>
            <a:off x="824345" y="1865376"/>
            <a:ext cx="10332720" cy="4809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[Fact]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public void Given_HentLejemaal_Faar_Korrekte_Datalinjer__Then_Liste_Dannes_Korrekt()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{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// Arrange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var lejemaalData = new[]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{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new string("\"lejlighednummer\"; \"kvadratmeter\"; \"antal rum\""),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new string("\"101\"; \"755\"; \"3\""),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new string("\"102\"; \"600\"; \"2\"")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};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var expected = new List&lt;Lejemaal&gt;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{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new() { AntalRum = 3, Kvadratmeter = 755, Lejlighednummer = 101 },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new() { AntalRum = 2, Kvadratmeter = 600, Lejlighednummer = 102 }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};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var file = new Mock&lt;IFile&gt;();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file.Setup(f =&gt; f.ReadAllLines()).Returns(lejemaalData);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var service = new LejemaalFraFilRepository(file.Object) as ILejemaalRepository;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// Act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var actual = service.HentLejemaal();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// Assert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Assert.Equal(expected, actual);  // Record comparison!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002D62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3" name="Shape 1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002D62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4" name="Text 2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UCL - Programmering 2. semester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22860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2D6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3: Fejlhåndtering med [Theory]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731520" y="1188720"/>
            <a:ext cx="10698480" cy="640080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 w="19050">
            <a:solidFill>
              <a:srgbClr val="0056A4"/>
            </a:solidFill>
            <a:prstDash val="solid"/>
          </a:ln>
        </p:spPr>
        <p:txBody>
          <a:bodyPr/>
          <a:lstStyle/>
          <a:p>
            <a:endParaRPr lang="da-DK"/>
          </a:p>
        </p:txBody>
      </p:sp>
      <p:sp>
        <p:nvSpPr>
          <p:cNvPr id="7" name="Text 5"/>
          <p:cNvSpPr/>
          <p:nvPr/>
        </p:nvSpPr>
        <p:spPr>
          <a:xfrm>
            <a:off x="914400" y="118872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2D6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at forkerte datatyper i CSV-linjer kaster Exception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31520" y="1920240"/>
            <a:ext cx="10698480" cy="2880360"/>
          </a:xfrm>
          <a:prstGeom prst="roundRect">
            <a:avLst>
              <a:gd name="adj" fmla="val 2041"/>
            </a:avLst>
          </a:prstGeom>
          <a:solidFill>
            <a:srgbClr val="1E1E2E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9" name="Text 7"/>
          <p:cNvSpPr/>
          <p:nvPr/>
        </p:nvSpPr>
        <p:spPr>
          <a:xfrm>
            <a:off x="914400" y="2029968"/>
            <a:ext cx="10332720" cy="2706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[Theory]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[InlineData("\"10x1\"; \"755\"; \"3\"")]       // Forkert int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[InlineData("\"10x1\"; \"755,0\"; \"3\"")]     // Forkert double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[InlineData("\"10x1\"; \"755,0\"; \"3.2\"")]   // Forkert int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public void Given_DanLejemaalObjekt_Faar_Forkerte_Datatyper__Then_Throw_Exception(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string lejemaalLinje)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{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// Arrange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var file = new Mock&lt;IFile&gt;();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file.Setup(f =&gt; f.ReadAllLines()).Returns(new string[1]);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var service = new LejemaalFraFilRepositoryStub(file.Object);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// Act &amp; Assert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Assert.Throws&lt;Exception&gt;(() =&gt; service.DanLejemaalObjekt(lejemaalLinje));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}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51206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8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[Theory] med [InlineData] tester flere fejlscenarier i én testmetode</a:t>
            </a:r>
            <a:endParaRPr lang="en-US" sz="1800" dirty="0"/>
          </a:p>
          <a:p>
            <a:pPr>
              <a:spcAft>
                <a:spcPts val="600"/>
              </a:spcAft>
            </a:pPr>
            <a:r>
              <a:rPr lang="en-US" sz="18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Assert.Throws&lt;Exception&gt; verificerer at en exception kastes</a:t>
            </a:r>
            <a:endParaRPr lang="en-US" sz="1800" dirty="0"/>
          </a:p>
          <a:p>
            <a:pPr>
              <a:spcAft>
                <a:spcPts val="600"/>
              </a:spcAft>
            </a:pPr>
            <a:r>
              <a:rPr lang="en-US" sz="18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Bemærk: bruger Stub i stedet for direkte kald (protected metode)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002D62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3" name="Shape 1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002D62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4" name="Text 2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UCL - Programmering 2. semester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22860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2D6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4: Forkert antal elementer i en linje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731520" y="1371600"/>
            <a:ext cx="10698480" cy="3165764"/>
          </a:xfrm>
          <a:prstGeom prst="roundRect">
            <a:avLst>
              <a:gd name="adj" fmla="val 2326"/>
            </a:avLst>
          </a:prstGeom>
          <a:solidFill>
            <a:srgbClr val="1E1E2E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7" name="Text 5"/>
          <p:cNvSpPr/>
          <p:nvPr/>
        </p:nvSpPr>
        <p:spPr>
          <a:xfrm>
            <a:off x="914400" y="1481328"/>
            <a:ext cx="10332720" cy="2907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5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[Theory]</a:t>
            </a:r>
            <a:endParaRPr lang="en-US" sz="15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5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[InlineData("\"101\"; \"755\"")]  // Kun 2 elementer i stedet for 3</a:t>
            </a:r>
            <a:endParaRPr lang="en-US" sz="15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5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public void Given_DanLejemaalObjekt_Faar_Forkerte_Antal_Elementer__Then_Throw_Exception(</a:t>
            </a:r>
            <a:endParaRPr lang="en-US" sz="15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5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string lejemaalLinje)</a:t>
            </a:r>
            <a:endParaRPr lang="en-US" sz="15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5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{</a:t>
            </a:r>
            <a:endParaRPr lang="en-US" sz="15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5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// Arrange</a:t>
            </a:r>
            <a:endParaRPr lang="en-US" sz="15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5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var file = new Mock&lt;IFile&gt;();</a:t>
            </a:r>
            <a:endParaRPr lang="en-US" sz="15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5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file.Setup(f =&gt; f.ReadAllLines()).Returns(new string[1]);</a:t>
            </a:r>
            <a:endParaRPr lang="en-US" sz="15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5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var service = new LejemaalFraFilRepositoryStub(file.Object);</a:t>
            </a:r>
            <a:endParaRPr lang="en-US" sz="15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endParaRPr lang="en-US" sz="15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5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// Act &amp; Assert</a:t>
            </a:r>
            <a:endParaRPr lang="en-US" sz="15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5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Assert.Throws&lt;Exception&gt;(() =&gt; service.DanLejemaalObjekt(lejemaalLinje));</a:t>
            </a:r>
            <a:endParaRPr lang="en-US" sz="15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5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}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461772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8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Tester at linjer med færre end 3 semikolon-separerede felter kaster Exception</a:t>
            </a:r>
            <a:endParaRPr lang="en-US" sz="1800" dirty="0"/>
          </a:p>
          <a:p>
            <a:pPr>
              <a:spcAft>
                <a:spcPts val="600"/>
              </a:spcAft>
            </a:pPr>
            <a:r>
              <a:rPr lang="en-US" sz="18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Validering sker i DanLejemaalObjekt: if (lejemaalParts.Length &lt; 3)</a:t>
            </a:r>
            <a:endParaRPr lang="en-US" sz="1800" dirty="0"/>
          </a:p>
          <a:p>
            <a:pPr>
              <a:spcAft>
                <a:spcPts val="600"/>
              </a:spcAft>
            </a:pPr>
            <a:r>
              <a:rPr lang="en-US" sz="18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Vigtig edge case - hvad sker der med korrupte data?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002D62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3" name="Shape 1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002D62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4" name="Text 2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UCL - Programmering 2. semester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22860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2D6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Stub Pattern - Test af protected metoder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20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Problem: DanLejemaalObjekt() og Konverter() er protected</a:t>
            </a:r>
            <a:endParaRPr lang="en-US" sz="2000" dirty="0"/>
          </a:p>
          <a:p>
            <a:pPr>
              <a:spcAft>
                <a:spcPts val="600"/>
              </a:spcAft>
            </a:pPr>
            <a:r>
              <a:rPr lang="en-US" sz="20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Løsning: En Stub-klasse der arver og "åbner" metoderne med new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1927167"/>
            <a:ext cx="10698480" cy="3891742"/>
          </a:xfrm>
          <a:prstGeom prst="roundRect">
            <a:avLst>
              <a:gd name="adj" fmla="val 1818"/>
            </a:avLst>
          </a:prstGeom>
          <a:solidFill>
            <a:srgbClr val="1E1E2E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8" name="Text 6"/>
          <p:cNvSpPr/>
          <p:nvPr/>
        </p:nvSpPr>
        <p:spPr>
          <a:xfrm>
            <a:off x="762000" y="2010572"/>
            <a:ext cx="10332720" cy="38083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public class LejemaalFraFilRepositoryStub : LejemaalFraFilRepository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{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public LejemaalFraFilRepositoryStub(IFile dataFile) : base(dataFile)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{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}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public new string RemoveQuotes(string lejemaalPart)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{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return base.RemoveQuotes(lejemaalPart);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}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public new List&lt;Lejemaal&gt; Konverter(string[] lejemaalData)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{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return base.Konverter(lejemaalData);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}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public new Lejemaal DanLejemaalObjekt(string lejemaalLinje)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{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return base.DanLejemaalObjekt(lejemaalLinje);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}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62247" y="5818909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6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"new" keyword skjuler basisklassens protected medlem og gør det public</a:t>
            </a:r>
            <a:endParaRPr lang="en-US" sz="1600" dirty="0"/>
          </a:p>
          <a:p>
            <a:pPr>
              <a:spcAft>
                <a:spcPts val="600"/>
              </a:spcAft>
            </a:pPr>
            <a:r>
              <a:rPr lang="en-US" sz="16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base.Method() kalder den originale implementering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002D62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3" name="Shape 1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002D62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4" name="Text 2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UCL - Programmering 2. semester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22860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2D6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projekt konfiguration (.csproj)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144087" y="1095895"/>
            <a:ext cx="8204662" cy="4757650"/>
          </a:xfrm>
          <a:prstGeom prst="roundRect">
            <a:avLst>
              <a:gd name="adj" fmla="val 1818"/>
            </a:avLst>
          </a:prstGeom>
          <a:solidFill>
            <a:srgbClr val="1E1E2E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7" name="Text 5"/>
          <p:cNvSpPr/>
          <p:nvPr/>
        </p:nvSpPr>
        <p:spPr>
          <a:xfrm>
            <a:off x="144087" y="1141615"/>
            <a:ext cx="8035636" cy="4666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&lt;Project Sdk="Microsoft.NET.Sdk"&gt;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&lt;PropertyGroup&gt;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&lt;ImplicitUsings&gt;enable&lt;/ImplicitUsings&gt;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&lt;Nullable&gt;enable&lt;/Nullable&gt;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&lt;OutputType&gt;Exe&lt;/OutputType&gt;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&lt;TargetFramework&gt;net10.0&lt;/TargetFramework&gt;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&lt;/PropertyGroup&gt;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&lt;ItemGroup&gt;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&lt;Content Include="xunit.runner.json" CopyToOutputDirectory="PreserveNewest" /&gt;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&lt;/ItemGroup&gt;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&lt;ItemGroup&gt;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&lt;Using Include="Xunit" /&gt;    &lt;!-- Global using for xUnit --&gt;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&lt;/ItemGroup&gt;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&lt;ItemGroup&gt;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&lt;PackageReference Include="Microsoft.NET.Test.Sdk" Version="18.0.1" /&gt;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&lt;PackageReference Include="Moq" Version="4.20.72" /&gt;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&lt;PackageReference Include="xunit.v3.mtp-v2" Version="3.2.2" /&gt;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&lt;/ItemGroup&gt;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&lt;ItemGroup&gt;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&lt;ProjectReference Include="..\Ejendomsberegner.Core\Ejendomsberegner.Core.csproj" /&gt;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&lt;/ItemGroup&gt;</a:t>
            </a:r>
            <a:endParaRPr lang="en-US" sz="1200" dirty="0"/>
          </a:p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&lt;/Project&gt;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348749" y="4063538"/>
            <a:ext cx="3794760" cy="18069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OutputType: Exe (kræves af xUnit v3)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Global using Xunit - ingen using Xunit; i hver testfil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 NuGet pakker: Test.Sdk, Moq, xunit.v3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ProjectReference til Core projektet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002D62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3" name="Shape 1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002D62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4" name="Text 2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UCL - Programmering 2. semester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22860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2D6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Kør tests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56A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 kommandolinjen: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31520" y="1737360"/>
            <a:ext cx="10698480" cy="640080"/>
          </a:xfrm>
          <a:prstGeom prst="roundRect">
            <a:avLst>
              <a:gd name="adj" fmla="val 14286"/>
            </a:avLst>
          </a:prstGeom>
          <a:solidFill>
            <a:srgbClr val="1E1E2E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8" name="Text 6"/>
          <p:cNvSpPr/>
          <p:nvPr/>
        </p:nvSpPr>
        <p:spPr>
          <a:xfrm>
            <a:off x="914400" y="1847088"/>
            <a:ext cx="1033272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20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dotnet test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31520" y="25603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56A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 Visual Studio / Rider: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301752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20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Explorer: View → Test Explorer</a:t>
            </a:r>
            <a:endParaRPr lang="en-US" sz="2000" dirty="0"/>
          </a:p>
          <a:p>
            <a:pPr>
              <a:spcAft>
                <a:spcPts val="600"/>
              </a:spcAft>
            </a:pPr>
            <a:r>
              <a:rPr lang="en-US" sz="20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Højreklik på test → Run Test</a:t>
            </a:r>
            <a:endParaRPr lang="en-US" sz="2000" dirty="0"/>
          </a:p>
          <a:p>
            <a:pPr>
              <a:spcAft>
                <a:spcPts val="600"/>
              </a:spcAft>
            </a:pPr>
            <a:r>
              <a:rPr lang="en-US" sz="20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Grøn = passed, Rød = failed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31520" y="42062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0A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Forventet resultat: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31520" y="4663440"/>
            <a:ext cx="10698480" cy="594360"/>
          </a:xfrm>
          <a:prstGeom prst="roundRect">
            <a:avLst>
              <a:gd name="adj" fmla="val 15385"/>
            </a:avLst>
          </a:prstGeom>
          <a:solidFill>
            <a:srgbClr val="1E1E2E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13" name="Text 11"/>
          <p:cNvSpPr/>
          <p:nvPr/>
        </p:nvSpPr>
        <p:spPr>
          <a:xfrm>
            <a:off x="914400" y="4773168"/>
            <a:ext cx="10332720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0000"/>
              </a:lnSpc>
              <a:spcAft>
                <a:spcPts val="100"/>
              </a:spcAft>
              <a:buNone/>
            </a:pPr>
            <a:r>
              <a:rPr lang="en-US" sz="1800" dirty="0">
                <a:solidFill>
                  <a:srgbClr val="CDD6F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Passed!  - Failed: 0, Passed: 4, Skipped: 0, Total: 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31520" y="530352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6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tests: 1x [Fact] ServiceTest + 1x [Fact] RepoTest + 2x [Theory] fejltest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002D62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3" name="Shape 1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002D62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4" name="Text 2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UCL - Programmering 2. semester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22860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2D6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Oversigt: Hvad mockes hvor?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017520" cy="594360"/>
          </a:xfrm>
          <a:prstGeom prst="rect">
            <a:avLst/>
          </a:prstGeom>
          <a:solidFill>
            <a:srgbClr val="002D62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da-DK"/>
          </a:p>
        </p:txBody>
      </p:sp>
      <p:sp>
        <p:nvSpPr>
          <p:cNvPr id="7" name="Text 5"/>
          <p:cNvSpPr/>
          <p:nvPr/>
        </p:nvSpPr>
        <p:spPr>
          <a:xfrm>
            <a:off x="640080" y="146304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klasse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566160" y="1463040"/>
            <a:ext cx="2743200" cy="594360"/>
          </a:xfrm>
          <a:prstGeom prst="rect">
            <a:avLst/>
          </a:prstGeom>
          <a:solidFill>
            <a:srgbClr val="002D62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da-DK"/>
          </a:p>
        </p:txBody>
      </p:sp>
      <p:sp>
        <p:nvSpPr>
          <p:cNvPr id="9" name="Text 7"/>
          <p:cNvSpPr/>
          <p:nvPr/>
        </p:nvSpPr>
        <p:spPr>
          <a:xfrm>
            <a:off x="3657600" y="146304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SUT (System Under Test)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09360" y="1463040"/>
            <a:ext cx="2286000" cy="594360"/>
          </a:xfrm>
          <a:prstGeom prst="rect">
            <a:avLst/>
          </a:prstGeom>
          <a:solidFill>
            <a:srgbClr val="002D62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da-DK"/>
          </a:p>
        </p:txBody>
      </p:sp>
      <p:sp>
        <p:nvSpPr>
          <p:cNvPr id="11" name="Text 9"/>
          <p:cNvSpPr/>
          <p:nvPr/>
        </p:nvSpPr>
        <p:spPr>
          <a:xfrm>
            <a:off x="6400800" y="146304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Mocked dependency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595360" y="1463040"/>
            <a:ext cx="2743200" cy="594360"/>
          </a:xfrm>
          <a:prstGeom prst="rect">
            <a:avLst/>
          </a:prstGeom>
          <a:solidFill>
            <a:srgbClr val="002D62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da-DK"/>
          </a:p>
        </p:txBody>
      </p:sp>
      <p:sp>
        <p:nvSpPr>
          <p:cNvPr id="13" name="Text 11"/>
          <p:cNvSpPr/>
          <p:nvPr/>
        </p:nvSpPr>
        <p:spPr>
          <a:xfrm>
            <a:off x="8686800" y="146304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Hvad testes?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2057400"/>
            <a:ext cx="30175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da-DK"/>
          </a:p>
        </p:txBody>
      </p:sp>
      <p:sp>
        <p:nvSpPr>
          <p:cNvPr id="15" name="Text 13"/>
          <p:cNvSpPr/>
          <p:nvPr/>
        </p:nvSpPr>
        <p:spPr>
          <a:xfrm>
            <a:off x="640080" y="205740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EjendomsberegnerServiceTest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566160" y="2057400"/>
            <a:ext cx="27432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da-DK"/>
          </a:p>
        </p:txBody>
      </p:sp>
      <p:sp>
        <p:nvSpPr>
          <p:cNvPr id="17" name="Text 15"/>
          <p:cNvSpPr/>
          <p:nvPr/>
        </p:nvSpPr>
        <p:spPr>
          <a:xfrm>
            <a:off x="3657600" y="205740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EjendomBeregnerService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09360" y="2057400"/>
            <a:ext cx="22860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da-DK"/>
          </a:p>
        </p:txBody>
      </p:sp>
      <p:sp>
        <p:nvSpPr>
          <p:cNvPr id="19" name="Text 17"/>
          <p:cNvSpPr/>
          <p:nvPr/>
        </p:nvSpPr>
        <p:spPr>
          <a:xfrm>
            <a:off x="6400800" y="205740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ILejemaalRepository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595360" y="2057400"/>
            <a:ext cx="27432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da-DK"/>
          </a:p>
        </p:txBody>
      </p:sp>
      <p:sp>
        <p:nvSpPr>
          <p:cNvPr id="21" name="Text 19"/>
          <p:cNvSpPr/>
          <p:nvPr/>
        </p:nvSpPr>
        <p:spPr>
          <a:xfrm>
            <a:off x="8686800" y="205740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BeregnKvadratmeter summerer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2651760"/>
            <a:ext cx="3017520" cy="59436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da-DK"/>
          </a:p>
        </p:txBody>
      </p:sp>
      <p:sp>
        <p:nvSpPr>
          <p:cNvPr id="23" name="Text 21"/>
          <p:cNvSpPr/>
          <p:nvPr/>
        </p:nvSpPr>
        <p:spPr>
          <a:xfrm>
            <a:off x="640080" y="265176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LejemaalFraFilRepositoryTest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566160" y="2651760"/>
            <a:ext cx="2743200" cy="59436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da-DK"/>
          </a:p>
        </p:txBody>
      </p:sp>
      <p:sp>
        <p:nvSpPr>
          <p:cNvPr id="25" name="Text 23"/>
          <p:cNvSpPr/>
          <p:nvPr/>
        </p:nvSpPr>
        <p:spPr>
          <a:xfrm>
            <a:off x="3657600" y="265176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LejemaalFraFilRepository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309360" y="2651760"/>
            <a:ext cx="2286000" cy="59436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da-DK"/>
          </a:p>
        </p:txBody>
      </p:sp>
      <p:sp>
        <p:nvSpPr>
          <p:cNvPr id="27" name="Text 25"/>
          <p:cNvSpPr/>
          <p:nvPr/>
        </p:nvSpPr>
        <p:spPr>
          <a:xfrm>
            <a:off x="6400800" y="265176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IFile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595360" y="2651760"/>
            <a:ext cx="2743200" cy="59436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da-DK"/>
          </a:p>
        </p:txBody>
      </p:sp>
      <p:sp>
        <p:nvSpPr>
          <p:cNvPr id="29" name="Text 27"/>
          <p:cNvSpPr/>
          <p:nvPr/>
        </p:nvSpPr>
        <p:spPr>
          <a:xfrm>
            <a:off x="8686800" y="265176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HentLejemaal parser CSV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48640" y="3246120"/>
            <a:ext cx="30175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da-DK"/>
          </a:p>
        </p:txBody>
      </p:sp>
      <p:sp>
        <p:nvSpPr>
          <p:cNvPr id="31" name="Text 29"/>
          <p:cNvSpPr/>
          <p:nvPr/>
        </p:nvSpPr>
        <p:spPr>
          <a:xfrm>
            <a:off x="640080" y="324612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(Theory) Forkerte datatyper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566160" y="3246120"/>
            <a:ext cx="27432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da-DK"/>
          </a:p>
        </p:txBody>
      </p:sp>
      <p:sp>
        <p:nvSpPr>
          <p:cNvPr id="33" name="Text 31"/>
          <p:cNvSpPr/>
          <p:nvPr/>
        </p:nvSpPr>
        <p:spPr>
          <a:xfrm>
            <a:off x="3657600" y="324612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LejemaalFraFilRepositoryStub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309360" y="3246120"/>
            <a:ext cx="22860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da-DK"/>
          </a:p>
        </p:txBody>
      </p:sp>
      <p:sp>
        <p:nvSpPr>
          <p:cNvPr id="35" name="Text 33"/>
          <p:cNvSpPr/>
          <p:nvPr/>
        </p:nvSpPr>
        <p:spPr>
          <a:xfrm>
            <a:off x="6400800" y="32461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IFile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8595360" y="3246120"/>
            <a:ext cx="27432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da-DK"/>
          </a:p>
        </p:txBody>
      </p:sp>
      <p:sp>
        <p:nvSpPr>
          <p:cNvPr id="37" name="Text 35"/>
          <p:cNvSpPr/>
          <p:nvPr/>
        </p:nvSpPr>
        <p:spPr>
          <a:xfrm>
            <a:off x="8686800" y="324612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Exception ved forkert input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548640" y="3840480"/>
            <a:ext cx="3017520" cy="59436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da-DK"/>
          </a:p>
        </p:txBody>
      </p:sp>
      <p:sp>
        <p:nvSpPr>
          <p:cNvPr id="39" name="Text 37"/>
          <p:cNvSpPr/>
          <p:nvPr/>
        </p:nvSpPr>
        <p:spPr>
          <a:xfrm>
            <a:off x="640080" y="384048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(Theory) Forkert antal felter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566160" y="3840480"/>
            <a:ext cx="2743200" cy="59436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da-DK"/>
          </a:p>
        </p:txBody>
      </p:sp>
      <p:sp>
        <p:nvSpPr>
          <p:cNvPr id="41" name="Text 39"/>
          <p:cNvSpPr/>
          <p:nvPr/>
        </p:nvSpPr>
        <p:spPr>
          <a:xfrm>
            <a:off x="3657600" y="384048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LejemaalFraFilRepositoryStub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6309360" y="3840480"/>
            <a:ext cx="2286000" cy="59436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da-DK"/>
          </a:p>
        </p:txBody>
      </p:sp>
      <p:sp>
        <p:nvSpPr>
          <p:cNvPr id="43" name="Text 41"/>
          <p:cNvSpPr/>
          <p:nvPr/>
        </p:nvSpPr>
        <p:spPr>
          <a:xfrm>
            <a:off x="6400800" y="384048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IFile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8595360" y="3840480"/>
            <a:ext cx="2743200" cy="59436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da-DK"/>
          </a:p>
        </p:txBody>
      </p:sp>
      <p:sp>
        <p:nvSpPr>
          <p:cNvPr id="45" name="Text 43"/>
          <p:cNvSpPr/>
          <p:nvPr/>
        </p:nvSpPr>
        <p:spPr>
          <a:xfrm>
            <a:off x="8686800" y="384048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Exception ved &lt; 3 felter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731520" y="438912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8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Hvert lag mockes separat - dette er kernen i unit testing</a:t>
            </a:r>
            <a:endParaRPr lang="en-US" sz="1800" dirty="0"/>
          </a:p>
          <a:p>
            <a:pPr>
              <a:spcAft>
                <a:spcPts val="600"/>
              </a:spcAft>
            </a:pPr>
            <a:r>
              <a:rPr lang="en-US" sz="18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Mock ILejemaalRepository → test beregning isoleret fra dataadgang</a:t>
            </a:r>
            <a:endParaRPr lang="en-US" sz="1800" dirty="0"/>
          </a:p>
          <a:p>
            <a:pPr>
              <a:spcAft>
                <a:spcPts val="600"/>
              </a:spcAft>
            </a:pPr>
            <a:r>
              <a:rPr lang="en-US" sz="18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Mock IFile → test parsing isoleret fra filsystem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002D62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3" name="Shape 1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002D62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4" name="Text 2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UCL - Programmering 2. semester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22860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2D6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Opsummering - Hvad lærte vi?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137160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20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Interfaces + DIP gør koden testbar</a:t>
            </a:r>
            <a:endParaRPr lang="en-US" sz="2000" dirty="0"/>
          </a:p>
          <a:p>
            <a:pPr lvl="1">
              <a:spcAft>
                <a:spcPts val="600"/>
              </a:spcAft>
            </a:pPr>
            <a:r>
              <a:rPr lang="en-US" sz="20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Dependency Injection via constructor</a:t>
            </a:r>
            <a:endParaRPr lang="en-US" sz="2000" dirty="0"/>
          </a:p>
          <a:p>
            <a:pPr>
              <a:spcAft>
                <a:spcPts val="600"/>
              </a:spcAft>
            </a:pPr>
            <a:r>
              <a:rPr lang="en-US" sz="20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Adapter Pattern abstraherer eksterne afhængigheder</a:t>
            </a:r>
            <a:endParaRPr lang="en-US" sz="2000" dirty="0"/>
          </a:p>
          <a:p>
            <a:pPr lvl="1">
              <a:spcAft>
                <a:spcPts val="600"/>
              </a:spcAft>
            </a:pPr>
            <a:r>
              <a:rPr lang="en-US" sz="20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IFile indkapsler File.ReadAllLines()</a:t>
            </a:r>
            <a:endParaRPr lang="en-US" sz="2000" dirty="0"/>
          </a:p>
          <a:p>
            <a:pPr>
              <a:spcAft>
                <a:spcPts val="600"/>
              </a:spcAft>
            </a:pPr>
            <a:r>
              <a:rPr lang="en-US" sz="20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Moq opretter mocks af interfaces</a:t>
            </a:r>
            <a:endParaRPr lang="en-US" sz="2000" dirty="0"/>
          </a:p>
          <a:p>
            <a:pPr lvl="1">
              <a:spcAft>
                <a:spcPts val="600"/>
              </a:spcAft>
            </a:pPr>
            <a:r>
              <a:rPr lang="en-US" sz="20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Setup() → Returns() definerer mock-adfærd</a:t>
            </a:r>
            <a:endParaRPr lang="en-US" sz="2000" dirty="0"/>
          </a:p>
          <a:p>
            <a:pPr>
              <a:spcAft>
                <a:spcPts val="600"/>
              </a:spcAft>
            </a:pPr>
            <a:r>
              <a:rPr lang="en-US" sz="20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xUnit v3 med [Fact] og [Theory]</a:t>
            </a:r>
            <a:endParaRPr lang="en-US" sz="2000" dirty="0"/>
          </a:p>
          <a:p>
            <a:pPr lvl="1">
              <a:spcAft>
                <a:spcPts val="600"/>
              </a:spcAft>
            </a:pPr>
            <a:r>
              <a:rPr lang="en-US" sz="20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[InlineData] til parameteriserede tests</a:t>
            </a:r>
            <a:endParaRPr lang="en-US" sz="2000" dirty="0"/>
          </a:p>
          <a:p>
            <a:pPr>
              <a:spcAft>
                <a:spcPts val="600"/>
              </a:spcAft>
            </a:pPr>
            <a:r>
              <a:rPr lang="en-US" sz="20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 types giver værdi-baseret sammenligning</a:t>
            </a:r>
            <a:endParaRPr lang="en-US" sz="2000" dirty="0"/>
          </a:p>
          <a:p>
            <a:pPr lvl="1">
              <a:spcAft>
                <a:spcPts val="600"/>
              </a:spcAft>
            </a:pPr>
            <a:r>
              <a:rPr lang="en-US" sz="20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Assert.Equal() virker direkte på records</a:t>
            </a:r>
            <a:endParaRPr lang="en-US" sz="2000" dirty="0"/>
          </a:p>
          <a:p>
            <a:pPr>
              <a:spcAft>
                <a:spcPts val="600"/>
              </a:spcAft>
            </a:pPr>
            <a:r>
              <a:rPr lang="en-US" sz="20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Stub pattern til test af protected metoder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5577840"/>
            <a:ext cx="10698480" cy="640080"/>
          </a:xfrm>
          <a:prstGeom prst="roundRect">
            <a:avLst>
              <a:gd name="adj" fmla="val 14286"/>
            </a:avLst>
          </a:prstGeom>
          <a:solidFill>
            <a:srgbClr val="0056A4"/>
          </a:solidFill>
          <a:ln w="19050">
            <a:solidFill>
              <a:srgbClr val="0056A4"/>
            </a:solidFill>
            <a:prstDash val="solid"/>
          </a:ln>
        </p:spPr>
        <p:txBody>
          <a:bodyPr/>
          <a:lstStyle/>
          <a:p>
            <a:endParaRPr lang="da-DK"/>
          </a:p>
        </p:txBody>
      </p:sp>
      <p:sp>
        <p:nvSpPr>
          <p:cNvPr id="8" name="Text 6"/>
          <p:cNvSpPr/>
          <p:nvPr/>
        </p:nvSpPr>
        <p:spPr>
          <a:xfrm>
            <a:off x="914400" y="557784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Arkitektur og interfaces er fundamentet for god testbarhed!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731520" y="5577840"/>
            <a:ext cx="10698480" cy="640080"/>
          </a:xfrm>
          <a:prstGeom prst="roundRect">
            <a:avLst>
              <a:gd name="adj" fmla="val 14286"/>
            </a:avLst>
          </a:prstGeom>
          <a:solidFill>
            <a:srgbClr val="0056A4"/>
          </a:solidFill>
          <a:ln/>
        </p:spPr>
        <p:txBody>
          <a:bodyPr/>
          <a:lstStyle/>
          <a:p>
            <a:endParaRPr lang="da-DK"/>
          </a:p>
        </p:txBody>
      </p:sp>
      <p:sp>
        <p:nvSpPr>
          <p:cNvPr id="10" name="Text 8"/>
          <p:cNvSpPr/>
          <p:nvPr/>
        </p:nvSpPr>
        <p:spPr>
          <a:xfrm>
            <a:off x="731520" y="55778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Arkitektur og interfaces er fundamentet for god testbarhed!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2060</Words>
  <Application>Microsoft Office PowerPoint</Application>
  <PresentationFormat>Widescreen</PresentationFormat>
  <Paragraphs>356</Paragraphs>
  <Slides>17</Slides>
  <Notes>17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3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17</vt:i4>
      </vt:variant>
    </vt:vector>
  </HeadingPairs>
  <TitlesOfParts>
    <vt:vector size="21" baseType="lpstr">
      <vt:lpstr>Arial</vt:lpstr>
      <vt:lpstr>Cascadia Code</vt:lpstr>
      <vt:lpstr>Segoe UI</vt:lpstr>
      <vt:lpstr>Office Theme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Kaj Steen Bromose</cp:lastModifiedBy>
  <cp:revision>5</cp:revision>
  <dcterms:created xsi:type="dcterms:W3CDTF">2026-02-21T17:19:28Z</dcterms:created>
  <dcterms:modified xsi:type="dcterms:W3CDTF">2026-02-25T11:06:18Z</dcterms:modified>
</cp:coreProperties>
</file>