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2D6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3063240"/>
            <a:ext cx="5760720" cy="36576"/>
          </a:xfrm>
          <a:prstGeom prst="rect">
            <a:avLst/>
          </a:prstGeom>
          <a:solidFill>
            <a:srgbClr val="008CBA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64592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Vejledende Løsning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914400" y="2377440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8CB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EjendomBeregner - Unit Test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914400" y="347472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A0C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03-Ejendomsberegner-Unittest
</a:t>
            </a:r>
            <a:pPr algn="ctr" indent="0" marL="0">
              <a:buNone/>
            </a:pPr>
            <a:r>
              <a:rPr lang="en-US" sz="2000" dirty="0">
                <a:solidFill>
                  <a:srgbClr val="8899B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Programmering - 2. semester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02D6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002D62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UCL - Programmering 2. semester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228600"/>
            <a:ext cx="10698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2D6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Opgaven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731520" y="1280160"/>
            <a:ext cx="10698480" cy="822960"/>
          </a:xfrm>
          <a:prstGeom prst="roundRect">
            <a:avLst>
              <a:gd name="adj" fmla="val 11111"/>
            </a:avLst>
          </a:prstGeom>
          <a:solidFill>
            <a:srgbClr val="F2F2F2"/>
          </a:solidFill>
          <a:ln w="19050">
            <a:solidFill>
              <a:srgbClr val="0056A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28016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2D6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Lav Unit Tests til "Ejendomsberegner - Interface og IoC" med xUnit v3 og Moq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31520" y="2377440"/>
            <a:ext cx="1069848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20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Minimumskrav:</a:t>
            </a:r>
            <a:endParaRPr lang="en-US" sz="2000" dirty="0"/>
          </a:p>
          <a:p>
            <a:pPr lvl="1">
              <a:spcAft>
                <a:spcPts val="600"/>
              </a:spcAft>
            </a:pPr>
            <a:r>
              <a:rPr lang="en-US" sz="20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Unit test af BeregnKvadratmeter metoden</a:t>
            </a:r>
            <a:endParaRPr lang="en-US" sz="2000" dirty="0"/>
          </a:p>
          <a:p>
            <a:pPr lvl="1">
              <a:spcAft>
                <a:spcPts val="600"/>
              </a:spcAft>
            </a:pPr>
            <a:r>
              <a:rPr lang="en-US" sz="20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Unit test af indlæsning fra tekstfil</a:t>
            </a:r>
            <a:endParaRPr lang="en-US" sz="2000" dirty="0"/>
          </a:p>
          <a:p>
            <a:pPr>
              <a:spcAft>
                <a:spcPts val="600"/>
              </a:spcAft>
            </a:pPr>
            <a:endParaRPr lang="en-US" sz="2000" dirty="0"/>
          </a:p>
          <a:p>
            <a:pPr>
              <a:spcAft>
                <a:spcPts val="600"/>
              </a:spcAft>
            </a:pPr>
            <a:r>
              <a:rPr lang="en-US" sz="20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Hints fra opgaven:</a:t>
            </a:r>
            <a:endParaRPr lang="en-US" sz="2000" dirty="0"/>
          </a:p>
          <a:p>
            <a:pPr lvl="1">
              <a:spcAft>
                <a:spcPts val="600"/>
              </a:spcAft>
            </a:pPr>
            <a:r>
              <a:rPr lang="en-US" sz="20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Anvend Moq til at mocke afhængigheder</a:t>
            </a:r>
            <a:endParaRPr lang="en-US" sz="2000" dirty="0"/>
          </a:p>
          <a:p>
            <a:pPr lvl="1">
              <a:spcAft>
                <a:spcPts val="600"/>
              </a:spcAft>
            </a:pPr>
            <a:r>
              <a:rPr lang="en-US" sz="20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Lav en adapter indkapsling af File.ReadAllLines()</a:t>
            </a:r>
            <a:endParaRPr lang="en-US" sz="2000" dirty="0"/>
          </a:p>
          <a:p>
            <a:pPr lvl="1">
              <a:spcAft>
                <a:spcPts val="600"/>
              </a:spcAft>
            </a:pPr>
            <a:r>
              <a:rPr lang="en-US" sz="20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Brug Adapter Pattern (IFile interface)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02D6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002D62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UCL - Programmering 2. semester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228600"/>
            <a:ext cx="10698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2D6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Arkitektur oversigt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3566160" cy="3200400"/>
          </a:xfrm>
          <a:prstGeom prst="roundRect">
            <a:avLst>
              <a:gd name="adj" fmla="val 4286"/>
            </a:avLst>
          </a:prstGeom>
          <a:solidFill>
            <a:srgbClr val="0056A4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554480"/>
            <a:ext cx="320040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Ejendomsberegner.Core
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Model/Lejemaal.cs</a:t>
            </a:r>
            <a:endParaRPr lang="en-US" sz="20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IEjendomBeregnerService</a:t>
            </a:r>
            <a:endParaRPr lang="en-US" sz="20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ILejemaalRepository</a:t>
            </a:r>
            <a:endParaRPr lang="en-US" sz="20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EjendomBeregnerService</a:t>
            </a:r>
            <a:endParaRPr lang="en-US" sz="20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LejemaalFraFilRepository</a:t>
            </a:r>
            <a:endParaRPr lang="en-US" sz="20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FileReaderAdapter/IFile</a:t>
            </a:r>
            <a:endParaRPr lang="en-US" sz="20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FileReaderAdapter/FileAdapter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297680" y="1371600"/>
            <a:ext cx="3566160" cy="3200400"/>
          </a:xfrm>
          <a:prstGeom prst="roundRect">
            <a:avLst>
              <a:gd name="adj" fmla="val 4286"/>
            </a:avLst>
          </a:prstGeom>
          <a:solidFill>
            <a:srgbClr val="40A02B"/>
          </a:solidFill>
          <a:ln/>
        </p:spPr>
      </p:sp>
      <p:sp>
        <p:nvSpPr>
          <p:cNvPr id="9" name="Text 7"/>
          <p:cNvSpPr/>
          <p:nvPr/>
        </p:nvSpPr>
        <p:spPr>
          <a:xfrm>
            <a:off x="4480560" y="1554480"/>
            <a:ext cx="320040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Ejendomsberegner.Test
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EjendomsberegnerServiceTest</a:t>
            </a:r>
            <a:endParaRPr lang="en-US" sz="20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LejemaalFraFilRepositoryTest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xUnit v3 + Moq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8138160" y="1371600"/>
            <a:ext cx="3566160" cy="3200400"/>
          </a:xfrm>
          <a:prstGeom prst="roundRect">
            <a:avLst>
              <a:gd name="adj" fmla="val 4286"/>
            </a:avLst>
          </a:prstGeom>
          <a:solidFill>
            <a:srgbClr val="008CBA"/>
          </a:solidFill>
          <a:ln/>
        </p:spPr>
      </p:sp>
      <p:sp>
        <p:nvSpPr>
          <p:cNvPr id="11" name="Text 9"/>
          <p:cNvSpPr/>
          <p:nvPr/>
        </p:nvSpPr>
        <p:spPr>
          <a:xfrm>
            <a:off x="8321040" y="1554480"/>
            <a:ext cx="320040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EjendomsberegnerIoC
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Program.cs</a:t>
            </a:r>
            <a:endParaRPr lang="en-US" sz="20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LejemaalData.csv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Microsoft.Extensions.DI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114800" y="47548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← refererer til →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31520" y="5120640"/>
            <a:ext cx="1069848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 og IoC projekterne refererer begge til Core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Core har ingen afhængigheder til de andre projekter (DIP)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02D6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002D62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UCL - Programmering 2. semester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228600"/>
            <a:ext cx="10698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2D6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Model: Lejemaal (record)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731520" y="1371600"/>
            <a:ext cx="10698480" cy="2560320"/>
          </a:xfrm>
          <a:prstGeom prst="roundRect">
            <a:avLst>
              <a:gd name="adj" fmla="val 3571"/>
            </a:avLst>
          </a:prstGeom>
          <a:solidFill>
            <a:srgbClr val="1E1E2E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481328"/>
            <a:ext cx="10332720" cy="23408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0000"/>
              </a:lnSpc>
              <a:spcAft>
                <a:spcPts val="100"/>
              </a:spcAft>
              <a:buNone/>
            </a:pPr>
            <a:r>
              <a:rPr lang="en-US" sz="1800" dirty="0">
                <a:solidFill>
                  <a:srgbClr val="CDD6F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namespace Ejendomsberegner.Core.Model;</a:t>
            </a:r>
            <a:endParaRPr lang="en-US" sz="1800" dirty="0"/>
          </a:p>
          <a:p>
            <a:pPr indent="0" marL="0">
              <a:lnSpc>
                <a:spcPct val="90000"/>
              </a:lnSpc>
              <a:spcAft>
                <a:spcPts val="100"/>
              </a:spcAft>
              <a:buNone/>
            </a:pPr>
            <a:endParaRPr lang="en-US" sz="1800" dirty="0"/>
          </a:p>
          <a:p>
            <a:pPr indent="0" marL="0">
              <a:lnSpc>
                <a:spcPct val="90000"/>
              </a:lnSpc>
              <a:spcAft>
                <a:spcPts val="100"/>
              </a:spcAft>
              <a:buNone/>
            </a:pPr>
            <a:r>
              <a:rPr lang="en-US" sz="1800" dirty="0">
                <a:solidFill>
                  <a:srgbClr val="CDD6F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public record Lejemaal</a:t>
            </a:r>
            <a:endParaRPr lang="en-US" sz="1800" dirty="0"/>
          </a:p>
          <a:p>
            <a:pPr indent="0" marL="0">
              <a:lnSpc>
                <a:spcPct val="90000"/>
              </a:lnSpc>
              <a:spcAft>
                <a:spcPts val="100"/>
              </a:spcAft>
              <a:buNone/>
            </a:pPr>
            <a:r>
              <a:rPr lang="en-US" sz="1800" dirty="0">
                <a:solidFill>
                  <a:srgbClr val="CDD6F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{</a:t>
            </a:r>
            <a:endParaRPr lang="en-US" sz="1800" dirty="0"/>
          </a:p>
          <a:p>
            <a:pPr indent="0" marL="0">
              <a:lnSpc>
                <a:spcPct val="90000"/>
              </a:lnSpc>
              <a:spcAft>
                <a:spcPts val="100"/>
              </a:spcAft>
              <a:buNone/>
            </a:pPr>
            <a:r>
              <a:rPr lang="en-US" sz="1800" dirty="0">
                <a:solidFill>
                  <a:srgbClr val="CDD6F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public int Lejlighednummer { get; set; }</a:t>
            </a:r>
            <a:endParaRPr lang="en-US" sz="1800" dirty="0"/>
          </a:p>
          <a:p>
            <a:pPr indent="0" marL="0">
              <a:lnSpc>
                <a:spcPct val="90000"/>
              </a:lnSpc>
              <a:spcAft>
                <a:spcPts val="100"/>
              </a:spcAft>
              <a:buNone/>
            </a:pPr>
            <a:r>
              <a:rPr lang="en-US" sz="1800" dirty="0">
                <a:solidFill>
                  <a:srgbClr val="CDD6F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public double Kvadratmeter { get; set; }</a:t>
            </a:r>
            <a:endParaRPr lang="en-US" sz="1800" dirty="0"/>
          </a:p>
          <a:p>
            <a:pPr indent="0" marL="0">
              <a:lnSpc>
                <a:spcPct val="90000"/>
              </a:lnSpc>
              <a:spcAft>
                <a:spcPts val="100"/>
              </a:spcAft>
              <a:buNone/>
            </a:pPr>
            <a:r>
              <a:rPr lang="en-US" sz="1800" dirty="0">
                <a:solidFill>
                  <a:srgbClr val="CDD6F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public int AntalRum { get; set; }</a:t>
            </a:r>
            <a:endParaRPr lang="en-US" sz="1800" dirty="0"/>
          </a:p>
          <a:p>
            <a:pPr indent="0" marL="0">
              <a:lnSpc>
                <a:spcPct val="90000"/>
              </a:lnSpc>
              <a:spcAft>
                <a:spcPts val="100"/>
              </a:spcAft>
              <a:buNone/>
            </a:pPr>
            <a:r>
              <a:rPr lang="en-US" sz="1800" dirty="0">
                <a:solidFill>
                  <a:srgbClr val="CDD6F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}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3840480"/>
            <a:ext cx="1069848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Record type giver automatisk Equals(), GetHashCode(), ToString()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Vigtigt for Assert.Equal() i tests - records sammenlignes på værdi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Tre properties: Lejlighednummer, Kvadratmeter, AntalRum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Svarer til en linje i CSV-filen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02D6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002D62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UCL - Programmering 2. semester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228600"/>
            <a:ext cx="10698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2D6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Interfaces - nøglen til testbarhed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731520" y="1371600"/>
            <a:ext cx="10698480" cy="5029200"/>
          </a:xfrm>
          <a:prstGeom prst="roundRect">
            <a:avLst>
              <a:gd name="adj" fmla="val 1818"/>
            </a:avLst>
          </a:prstGeom>
          <a:solidFill>
            <a:srgbClr val="1E1E2E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481328"/>
            <a:ext cx="10332720" cy="4809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0000"/>
              </a:lnSpc>
              <a:spcAft>
                <a:spcPts val="100"/>
              </a:spcAft>
              <a:buNone/>
            </a:pPr>
            <a:r>
              <a:rPr lang="en-US" sz="1600" dirty="0">
                <a:solidFill>
                  <a:srgbClr val="CDD6F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// Service interface</a:t>
            </a:r>
            <a:endParaRPr lang="en-US" sz="1600" dirty="0"/>
          </a:p>
          <a:p>
            <a:pPr indent="0" marL="0">
              <a:lnSpc>
                <a:spcPct val="90000"/>
              </a:lnSpc>
              <a:spcAft>
                <a:spcPts val="100"/>
              </a:spcAft>
              <a:buNone/>
            </a:pPr>
            <a:r>
              <a:rPr lang="en-US" sz="1600" dirty="0">
                <a:solidFill>
                  <a:srgbClr val="CDD6F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public interface IEjendomBeregnerService</a:t>
            </a:r>
            <a:endParaRPr lang="en-US" sz="1600" dirty="0"/>
          </a:p>
          <a:p>
            <a:pPr indent="0" marL="0">
              <a:lnSpc>
                <a:spcPct val="90000"/>
              </a:lnSpc>
              <a:spcAft>
                <a:spcPts val="100"/>
              </a:spcAft>
              <a:buNone/>
            </a:pPr>
            <a:r>
              <a:rPr lang="en-US" sz="1600" dirty="0">
                <a:solidFill>
                  <a:srgbClr val="CDD6F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{</a:t>
            </a:r>
            <a:endParaRPr lang="en-US" sz="1600" dirty="0"/>
          </a:p>
          <a:p>
            <a:pPr indent="0" marL="0">
              <a:lnSpc>
                <a:spcPct val="90000"/>
              </a:lnSpc>
              <a:spcAft>
                <a:spcPts val="100"/>
              </a:spcAft>
              <a:buNone/>
            </a:pPr>
            <a:r>
              <a:rPr lang="en-US" sz="1600" dirty="0">
                <a:solidFill>
                  <a:srgbClr val="CDD6F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double BeregnKvadratmeter();</a:t>
            </a:r>
            <a:endParaRPr lang="en-US" sz="1600" dirty="0"/>
          </a:p>
          <a:p>
            <a:pPr indent="0" marL="0">
              <a:lnSpc>
                <a:spcPct val="90000"/>
              </a:lnSpc>
              <a:spcAft>
                <a:spcPts val="100"/>
              </a:spcAft>
              <a:buNone/>
            </a:pPr>
            <a:r>
              <a:rPr lang="en-US" sz="1600" dirty="0">
                <a:solidFill>
                  <a:srgbClr val="CDD6F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}</a:t>
            </a:r>
            <a:endParaRPr lang="en-US" sz="1600" dirty="0"/>
          </a:p>
          <a:p>
            <a:pPr indent="0" marL="0">
              <a:lnSpc>
                <a:spcPct val="90000"/>
              </a:lnSpc>
              <a:spcAft>
                <a:spcPts val="100"/>
              </a:spcAft>
              <a:buNone/>
            </a:pPr>
            <a:endParaRPr lang="en-US" sz="1600" dirty="0"/>
          </a:p>
          <a:p>
            <a:pPr indent="0" marL="0">
              <a:lnSpc>
                <a:spcPct val="90000"/>
              </a:lnSpc>
              <a:spcAft>
                <a:spcPts val="100"/>
              </a:spcAft>
              <a:buNone/>
            </a:pPr>
            <a:r>
              <a:rPr lang="en-US" sz="1600" dirty="0">
                <a:solidFill>
                  <a:srgbClr val="CDD6F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// Repository interface</a:t>
            </a:r>
            <a:endParaRPr lang="en-US" sz="1600" dirty="0"/>
          </a:p>
          <a:p>
            <a:pPr indent="0" marL="0">
              <a:lnSpc>
                <a:spcPct val="90000"/>
              </a:lnSpc>
              <a:spcAft>
                <a:spcPts val="100"/>
              </a:spcAft>
              <a:buNone/>
            </a:pPr>
            <a:r>
              <a:rPr lang="en-US" sz="1600" dirty="0">
                <a:solidFill>
                  <a:srgbClr val="CDD6F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public interface ILejemaalRepository</a:t>
            </a:r>
            <a:endParaRPr lang="en-US" sz="1600" dirty="0"/>
          </a:p>
          <a:p>
            <a:pPr indent="0" marL="0">
              <a:lnSpc>
                <a:spcPct val="90000"/>
              </a:lnSpc>
              <a:spcAft>
                <a:spcPts val="100"/>
              </a:spcAft>
              <a:buNone/>
            </a:pPr>
            <a:r>
              <a:rPr lang="en-US" sz="1600" dirty="0">
                <a:solidFill>
                  <a:srgbClr val="CDD6F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{</a:t>
            </a:r>
            <a:endParaRPr lang="en-US" sz="1600" dirty="0"/>
          </a:p>
          <a:p>
            <a:pPr indent="0" marL="0">
              <a:lnSpc>
                <a:spcPct val="90000"/>
              </a:lnSpc>
              <a:spcAft>
                <a:spcPts val="100"/>
              </a:spcAft>
              <a:buNone/>
            </a:pPr>
            <a:r>
              <a:rPr lang="en-US" sz="1600" dirty="0">
                <a:solidFill>
                  <a:srgbClr val="CDD6F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List&lt;Lejemaal&gt; HentLejemaal();</a:t>
            </a:r>
            <a:endParaRPr lang="en-US" sz="1600" dirty="0"/>
          </a:p>
          <a:p>
            <a:pPr indent="0" marL="0">
              <a:lnSpc>
                <a:spcPct val="90000"/>
              </a:lnSpc>
              <a:spcAft>
                <a:spcPts val="100"/>
              </a:spcAft>
              <a:buNone/>
            </a:pPr>
            <a:r>
              <a:rPr lang="en-US" sz="1600" dirty="0">
                <a:solidFill>
                  <a:srgbClr val="CDD6F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}</a:t>
            </a:r>
            <a:endParaRPr lang="en-US" sz="1600" dirty="0"/>
          </a:p>
          <a:p>
            <a:pPr indent="0" marL="0">
              <a:lnSpc>
                <a:spcPct val="90000"/>
              </a:lnSpc>
              <a:spcAft>
                <a:spcPts val="100"/>
              </a:spcAft>
              <a:buNone/>
            </a:pPr>
            <a:endParaRPr lang="en-US" sz="1600" dirty="0"/>
          </a:p>
          <a:p>
            <a:pPr indent="0" marL="0">
              <a:lnSpc>
                <a:spcPct val="90000"/>
              </a:lnSpc>
              <a:spcAft>
                <a:spcPts val="100"/>
              </a:spcAft>
              <a:buNone/>
            </a:pPr>
            <a:r>
              <a:rPr lang="en-US" sz="1600" dirty="0">
                <a:solidFill>
                  <a:srgbClr val="CDD6F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// File adapter interface</a:t>
            </a:r>
            <a:endParaRPr lang="en-US" sz="1600" dirty="0"/>
          </a:p>
          <a:p>
            <a:pPr indent="0" marL="0">
              <a:lnSpc>
                <a:spcPct val="90000"/>
              </a:lnSpc>
              <a:spcAft>
                <a:spcPts val="100"/>
              </a:spcAft>
              <a:buNone/>
            </a:pPr>
            <a:r>
              <a:rPr lang="en-US" sz="1600" dirty="0">
                <a:solidFill>
                  <a:srgbClr val="CDD6F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public interface IFile</a:t>
            </a:r>
            <a:endParaRPr lang="en-US" sz="1600" dirty="0"/>
          </a:p>
          <a:p>
            <a:pPr indent="0" marL="0">
              <a:lnSpc>
                <a:spcPct val="90000"/>
              </a:lnSpc>
              <a:spcAft>
                <a:spcPts val="100"/>
              </a:spcAft>
              <a:buNone/>
            </a:pPr>
            <a:r>
              <a:rPr lang="en-US" sz="1600" dirty="0">
                <a:solidFill>
                  <a:srgbClr val="CDD6F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{</a:t>
            </a:r>
            <a:endParaRPr lang="en-US" sz="1600" dirty="0"/>
          </a:p>
          <a:p>
            <a:pPr indent="0" marL="0">
              <a:lnSpc>
                <a:spcPct val="90000"/>
              </a:lnSpc>
              <a:spcAft>
                <a:spcPts val="100"/>
              </a:spcAft>
              <a:buNone/>
            </a:pPr>
            <a:r>
              <a:rPr lang="en-US" sz="1600" dirty="0">
                <a:solidFill>
                  <a:srgbClr val="CDD6F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string[] ReadAllLines();</a:t>
            </a:r>
            <a:endParaRPr lang="en-US" sz="1600" dirty="0"/>
          </a:p>
          <a:p>
            <a:pPr indent="0" marL="0">
              <a:lnSpc>
                <a:spcPct val="90000"/>
              </a:lnSpc>
              <a:spcAft>
                <a:spcPts val="100"/>
              </a:spcAft>
              <a:buNone/>
            </a:pPr>
            <a:r>
              <a:rPr lang="en-US" sz="1600" dirty="0">
                <a:solidFill>
                  <a:srgbClr val="CDD6F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}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4846320"/>
            <a:ext cx="1069848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Hvert interface kan mockes i unit tests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IEjendomBeregnerService - beregningslogik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ILejemaalRepository - dataadgang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IFile - adapter til filsystem (File.ReadAllLines)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02D6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002D62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UCL - Programmering 2. semester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228600"/>
            <a:ext cx="10698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2D6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EjendomBeregnerService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731520" y="1280160"/>
            <a:ext cx="10698480" cy="5029200"/>
          </a:xfrm>
          <a:prstGeom prst="roundRect">
            <a:avLst>
              <a:gd name="adj" fmla="val 1818"/>
            </a:avLst>
          </a:prstGeom>
          <a:solidFill>
            <a:srgbClr val="1E1E2E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389888"/>
            <a:ext cx="10332720" cy="4809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0000"/>
              </a:lnSpc>
              <a:spcAft>
                <a:spcPts val="100"/>
              </a:spcAft>
              <a:buNone/>
            </a:pPr>
            <a:r>
              <a:rPr lang="en-US" sz="1500" dirty="0">
                <a:solidFill>
                  <a:srgbClr val="CDD6F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public class EjendomBeregnerService : IEjendomBeregnerService</a:t>
            </a:r>
            <a:endParaRPr lang="en-US" sz="1500" dirty="0"/>
          </a:p>
          <a:p>
            <a:pPr indent="0" marL="0">
              <a:lnSpc>
                <a:spcPct val="90000"/>
              </a:lnSpc>
              <a:spcAft>
                <a:spcPts val="100"/>
              </a:spcAft>
              <a:buNone/>
            </a:pPr>
            <a:r>
              <a:rPr lang="en-US" sz="1500" dirty="0">
                <a:solidFill>
                  <a:srgbClr val="CDD6F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{</a:t>
            </a:r>
            <a:endParaRPr lang="en-US" sz="1500" dirty="0"/>
          </a:p>
          <a:p>
            <a:pPr indent="0" marL="0">
              <a:lnSpc>
                <a:spcPct val="90000"/>
              </a:lnSpc>
              <a:spcAft>
                <a:spcPts val="100"/>
              </a:spcAft>
              <a:buNone/>
            </a:pPr>
            <a:r>
              <a:rPr lang="en-US" sz="1500" dirty="0">
                <a:solidFill>
                  <a:srgbClr val="CDD6F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private readonly ILejemaalRepository _repo;</a:t>
            </a:r>
            <a:endParaRPr lang="en-US" sz="1500" dirty="0"/>
          </a:p>
          <a:p>
            <a:pPr indent="0" marL="0">
              <a:lnSpc>
                <a:spcPct val="90000"/>
              </a:lnSpc>
              <a:spcAft>
                <a:spcPts val="100"/>
              </a:spcAft>
              <a:buNone/>
            </a:pPr>
            <a:endParaRPr lang="en-US" sz="1500" dirty="0"/>
          </a:p>
          <a:p>
            <a:pPr indent="0" marL="0">
              <a:lnSpc>
                <a:spcPct val="90000"/>
              </a:lnSpc>
              <a:spcAft>
                <a:spcPts val="100"/>
              </a:spcAft>
              <a:buNone/>
            </a:pPr>
            <a:r>
              <a:rPr lang="en-US" sz="1500" dirty="0">
                <a:solidFill>
                  <a:srgbClr val="CDD6F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public EjendomBeregnerService(ILejemaalRepository repo)</a:t>
            </a:r>
            <a:endParaRPr lang="en-US" sz="1500" dirty="0"/>
          </a:p>
          <a:p>
            <a:pPr indent="0" marL="0">
              <a:lnSpc>
                <a:spcPct val="90000"/>
              </a:lnSpc>
              <a:spcAft>
                <a:spcPts val="100"/>
              </a:spcAft>
              <a:buNone/>
            </a:pPr>
            <a:r>
              <a:rPr lang="en-US" sz="1500" dirty="0">
                <a:solidFill>
                  <a:srgbClr val="CDD6F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{</a:t>
            </a:r>
            <a:endParaRPr lang="en-US" sz="1500" dirty="0"/>
          </a:p>
          <a:p>
            <a:pPr indent="0" marL="0">
              <a:lnSpc>
                <a:spcPct val="90000"/>
              </a:lnSpc>
              <a:spcAft>
                <a:spcPts val="100"/>
              </a:spcAft>
              <a:buNone/>
            </a:pPr>
            <a:r>
              <a:rPr lang="en-US" sz="1500" dirty="0">
                <a:solidFill>
                  <a:srgbClr val="CDD6F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    _repo = repo;</a:t>
            </a:r>
            <a:endParaRPr lang="en-US" sz="1500" dirty="0"/>
          </a:p>
          <a:p>
            <a:pPr indent="0" marL="0">
              <a:lnSpc>
                <a:spcPct val="90000"/>
              </a:lnSpc>
              <a:spcAft>
                <a:spcPts val="100"/>
              </a:spcAft>
              <a:buNone/>
            </a:pPr>
            <a:r>
              <a:rPr lang="en-US" sz="1500" dirty="0">
                <a:solidFill>
                  <a:srgbClr val="CDD6F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}</a:t>
            </a:r>
            <a:endParaRPr lang="en-US" sz="1500" dirty="0"/>
          </a:p>
          <a:p>
            <a:pPr indent="0" marL="0">
              <a:lnSpc>
                <a:spcPct val="90000"/>
              </a:lnSpc>
              <a:spcAft>
                <a:spcPts val="100"/>
              </a:spcAft>
              <a:buNone/>
            </a:pPr>
            <a:endParaRPr lang="en-US" sz="1500" dirty="0"/>
          </a:p>
          <a:p>
            <a:pPr indent="0" marL="0">
              <a:lnSpc>
                <a:spcPct val="90000"/>
              </a:lnSpc>
              <a:spcAft>
                <a:spcPts val="100"/>
              </a:spcAft>
              <a:buNone/>
            </a:pPr>
            <a:r>
              <a:rPr lang="en-US" sz="1500" dirty="0">
                <a:solidFill>
                  <a:srgbClr val="CDD6F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double IEjendomBeregnerService.BeregnKvadratmeter()</a:t>
            </a:r>
            <a:endParaRPr lang="en-US" sz="1500" dirty="0"/>
          </a:p>
          <a:p>
            <a:pPr indent="0" marL="0">
              <a:lnSpc>
                <a:spcPct val="90000"/>
              </a:lnSpc>
              <a:spcAft>
                <a:spcPts val="100"/>
              </a:spcAft>
              <a:buNone/>
            </a:pPr>
            <a:r>
              <a:rPr lang="en-US" sz="1500" dirty="0">
                <a:solidFill>
                  <a:srgbClr val="CDD6F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{</a:t>
            </a:r>
            <a:endParaRPr lang="en-US" sz="1500" dirty="0"/>
          </a:p>
          <a:p>
            <a:pPr indent="0" marL="0">
              <a:lnSpc>
                <a:spcPct val="90000"/>
              </a:lnSpc>
              <a:spcAft>
                <a:spcPts val="100"/>
              </a:spcAft>
              <a:buNone/>
            </a:pPr>
            <a:r>
              <a:rPr lang="en-US" sz="1500" dirty="0">
                <a:solidFill>
                  <a:srgbClr val="CDD6F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    var lejemaalene = _repo.HentLejemaal();</a:t>
            </a:r>
            <a:endParaRPr lang="en-US" sz="1500" dirty="0"/>
          </a:p>
          <a:p>
            <a:pPr indent="0" marL="0">
              <a:lnSpc>
                <a:spcPct val="90000"/>
              </a:lnSpc>
              <a:spcAft>
                <a:spcPts val="100"/>
              </a:spcAft>
              <a:buNone/>
            </a:pPr>
            <a:r>
              <a:rPr lang="en-US" sz="1500" dirty="0">
                <a:solidFill>
                  <a:srgbClr val="CDD6F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    var kvadratmeter = 0.0;</a:t>
            </a:r>
            <a:endParaRPr lang="en-US" sz="1500" dirty="0"/>
          </a:p>
          <a:p>
            <a:pPr indent="0" marL="0">
              <a:lnSpc>
                <a:spcPct val="90000"/>
              </a:lnSpc>
              <a:spcAft>
                <a:spcPts val="100"/>
              </a:spcAft>
              <a:buNone/>
            </a:pPr>
            <a:endParaRPr lang="en-US" sz="1500" dirty="0"/>
          </a:p>
          <a:p>
            <a:pPr indent="0" marL="0">
              <a:lnSpc>
                <a:spcPct val="90000"/>
              </a:lnSpc>
              <a:spcAft>
                <a:spcPts val="100"/>
              </a:spcAft>
              <a:buNone/>
            </a:pPr>
            <a:r>
              <a:rPr lang="en-US" sz="1500" dirty="0">
                <a:solidFill>
                  <a:srgbClr val="CDD6F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    foreach (var lejemaal in lejemaalene)</a:t>
            </a:r>
            <a:endParaRPr lang="en-US" sz="1500" dirty="0"/>
          </a:p>
          <a:p>
            <a:pPr indent="0" marL="0">
              <a:lnSpc>
                <a:spcPct val="90000"/>
              </a:lnSpc>
              <a:spcAft>
                <a:spcPts val="100"/>
              </a:spcAft>
              <a:buNone/>
            </a:pPr>
            <a:r>
              <a:rPr lang="en-US" sz="1500" dirty="0">
                <a:solidFill>
                  <a:srgbClr val="CDD6F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        kvadratmeter += lejemaal.Kvadratmeter;</a:t>
            </a:r>
            <a:endParaRPr lang="en-US" sz="1500" dirty="0"/>
          </a:p>
          <a:p>
            <a:pPr indent="0" marL="0">
              <a:lnSpc>
                <a:spcPct val="90000"/>
              </a:lnSpc>
              <a:spcAft>
                <a:spcPts val="100"/>
              </a:spcAft>
              <a:buNone/>
            </a:pPr>
            <a:endParaRPr lang="en-US" sz="1500" dirty="0"/>
          </a:p>
          <a:p>
            <a:pPr indent="0" marL="0">
              <a:lnSpc>
                <a:spcPct val="90000"/>
              </a:lnSpc>
              <a:spcAft>
                <a:spcPts val="100"/>
              </a:spcAft>
              <a:buNone/>
            </a:pPr>
            <a:r>
              <a:rPr lang="en-US" sz="1500" dirty="0">
                <a:solidFill>
                  <a:srgbClr val="CDD6F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    return kvadratmeter;</a:t>
            </a:r>
            <a:endParaRPr lang="en-US" sz="1500" dirty="0"/>
          </a:p>
          <a:p>
            <a:pPr indent="0" marL="0">
              <a:lnSpc>
                <a:spcPct val="90000"/>
              </a:lnSpc>
              <a:spcAft>
                <a:spcPts val="100"/>
              </a:spcAft>
              <a:buNone/>
            </a:pPr>
            <a:r>
              <a:rPr lang="en-US" sz="1500" dirty="0">
                <a:solidFill>
                  <a:srgbClr val="CDD6F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}</a:t>
            </a:r>
            <a:endParaRPr lang="en-US" sz="1500" dirty="0"/>
          </a:p>
          <a:p>
            <a:pPr indent="0" marL="0">
              <a:lnSpc>
                <a:spcPct val="90000"/>
              </a:lnSpc>
              <a:spcAft>
                <a:spcPts val="100"/>
              </a:spcAft>
              <a:buNone/>
            </a:pPr>
            <a:r>
              <a:rPr lang="en-US" sz="1500" dirty="0">
                <a:solidFill>
                  <a:srgbClr val="CDD6F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}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5029200"/>
            <a:ext cx="1069848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Constructor injection: ILejemaalRepository injiceres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BeregnKvadratmeter henter lejemål og summerer kvadratmeter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Eksplicit interface-implementering (IEjendomBeregnerService.)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 at teste: Mock ILejemaalRepository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02D6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002D62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UCL - Programmering 2. semester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228600"/>
            <a:ext cx="10698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2D6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 1: EjendomsberegnerServiceTest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731520" y="1188720"/>
            <a:ext cx="10698480" cy="640080"/>
          </a:xfrm>
          <a:prstGeom prst="roundRect">
            <a:avLst>
              <a:gd name="adj" fmla="val 14286"/>
            </a:avLst>
          </a:prstGeom>
          <a:solidFill>
            <a:srgbClr val="F2F2F2"/>
          </a:solidFill>
          <a:ln w="19050">
            <a:solidFill>
              <a:srgbClr val="0056A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188720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2D6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Mock ILejemaalRepository → test at BeregnKvadratmeter summerer korrekt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31520" y="2011680"/>
            <a:ext cx="10698480" cy="5029200"/>
          </a:xfrm>
          <a:prstGeom prst="roundRect">
            <a:avLst>
              <a:gd name="adj" fmla="val 1818"/>
            </a:avLst>
          </a:prstGeom>
          <a:solidFill>
            <a:srgbClr val="1E1E2E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121408"/>
            <a:ext cx="10332720" cy="4809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0000"/>
              </a:lnSpc>
              <a:spcAft>
                <a:spcPts val="100"/>
              </a:spcAft>
              <a:buNone/>
            </a:pPr>
            <a:r>
              <a:rPr lang="en-US" sz="1300" dirty="0">
                <a:solidFill>
                  <a:srgbClr val="CDD6F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[Fact]</a:t>
            </a:r>
            <a:endParaRPr lang="en-US" sz="1300" dirty="0"/>
          </a:p>
          <a:p>
            <a:pPr indent="0" marL="0">
              <a:lnSpc>
                <a:spcPct val="90000"/>
              </a:lnSpc>
              <a:spcAft>
                <a:spcPts val="100"/>
              </a:spcAft>
              <a:buNone/>
            </a:pPr>
            <a:r>
              <a:rPr lang="en-US" sz="1300" dirty="0">
                <a:solidFill>
                  <a:srgbClr val="CDD6F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public void Given_BeregnKvadratmeter_Faar_LejemaalListe__Then_Beregnes_Korrekt()</a:t>
            </a:r>
            <a:endParaRPr lang="en-US" sz="1300" dirty="0"/>
          </a:p>
          <a:p>
            <a:pPr indent="0" marL="0">
              <a:lnSpc>
                <a:spcPct val="90000"/>
              </a:lnSpc>
              <a:spcAft>
                <a:spcPts val="100"/>
              </a:spcAft>
              <a:buNone/>
            </a:pPr>
            <a:r>
              <a:rPr lang="en-US" sz="1300" dirty="0">
                <a:solidFill>
                  <a:srgbClr val="CDD6F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{</a:t>
            </a:r>
            <a:endParaRPr lang="en-US" sz="1300" dirty="0"/>
          </a:p>
          <a:p>
            <a:pPr indent="0" marL="0">
              <a:lnSpc>
                <a:spcPct val="90000"/>
              </a:lnSpc>
              <a:spcAft>
                <a:spcPts val="100"/>
              </a:spcAft>
              <a:buNone/>
            </a:pPr>
            <a:r>
              <a:rPr lang="en-US" sz="1300" dirty="0">
                <a:solidFill>
                  <a:srgbClr val="CDD6F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// Arrange</a:t>
            </a:r>
            <a:endParaRPr lang="en-US" sz="1300" dirty="0"/>
          </a:p>
          <a:p>
            <a:pPr indent="0" marL="0">
              <a:lnSpc>
                <a:spcPct val="90000"/>
              </a:lnSpc>
              <a:spcAft>
                <a:spcPts val="100"/>
              </a:spcAft>
              <a:buNone/>
            </a:pPr>
            <a:r>
              <a:rPr lang="en-US" sz="1300" dirty="0">
                <a:solidFill>
                  <a:srgbClr val="CDD6F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var lejemaal = new List&lt;Lejemaal&gt;();</a:t>
            </a:r>
            <a:endParaRPr lang="en-US" sz="1300" dirty="0"/>
          </a:p>
          <a:p>
            <a:pPr indent="0" marL="0">
              <a:lnSpc>
                <a:spcPct val="90000"/>
              </a:lnSpc>
              <a:spcAft>
                <a:spcPts val="100"/>
              </a:spcAft>
              <a:buNone/>
            </a:pPr>
            <a:r>
              <a:rPr lang="en-US" sz="1300" dirty="0">
                <a:solidFill>
                  <a:srgbClr val="CDD6F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lejemaal.Add(new Lejemaal { Lejlighednummer = 1, Kvadratmeter = 50.0, AntalRum = 2 });</a:t>
            </a:r>
            <a:endParaRPr lang="en-US" sz="1300" dirty="0"/>
          </a:p>
          <a:p>
            <a:pPr indent="0" marL="0">
              <a:lnSpc>
                <a:spcPct val="90000"/>
              </a:lnSpc>
              <a:spcAft>
                <a:spcPts val="100"/>
              </a:spcAft>
              <a:buNone/>
            </a:pPr>
            <a:r>
              <a:rPr lang="en-US" sz="1300" dirty="0">
                <a:solidFill>
                  <a:srgbClr val="CDD6F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lejemaal.Add(new Lejemaal { Lejlighednummer = 2, Kvadratmeter = 75.0, AntalRum = 3 });</a:t>
            </a:r>
            <a:endParaRPr lang="en-US" sz="1300" dirty="0"/>
          </a:p>
          <a:p>
            <a:pPr indent="0" marL="0">
              <a:lnSpc>
                <a:spcPct val="90000"/>
              </a:lnSpc>
              <a:spcAft>
                <a:spcPts val="100"/>
              </a:spcAft>
              <a:buNone/>
            </a:pPr>
            <a:endParaRPr lang="en-US" sz="1300" dirty="0"/>
          </a:p>
          <a:p>
            <a:pPr indent="0" marL="0">
              <a:lnSpc>
                <a:spcPct val="90000"/>
              </a:lnSpc>
              <a:spcAft>
                <a:spcPts val="100"/>
              </a:spcAft>
              <a:buNone/>
            </a:pPr>
            <a:r>
              <a:rPr lang="en-US" sz="1300" dirty="0">
                <a:solidFill>
                  <a:srgbClr val="CDD6F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var expected = 125.0;</a:t>
            </a:r>
            <a:endParaRPr lang="en-US" sz="1300" dirty="0"/>
          </a:p>
          <a:p>
            <a:pPr indent="0" marL="0">
              <a:lnSpc>
                <a:spcPct val="90000"/>
              </a:lnSpc>
              <a:spcAft>
                <a:spcPts val="100"/>
              </a:spcAft>
              <a:buNone/>
            </a:pPr>
            <a:endParaRPr lang="en-US" sz="1300" dirty="0"/>
          </a:p>
          <a:p>
            <a:pPr indent="0" marL="0">
              <a:lnSpc>
                <a:spcPct val="90000"/>
              </a:lnSpc>
              <a:spcAft>
                <a:spcPts val="100"/>
              </a:spcAft>
              <a:buNone/>
            </a:pPr>
            <a:r>
              <a:rPr lang="en-US" sz="1300" dirty="0">
                <a:solidFill>
                  <a:srgbClr val="CDD6F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var lejemaalRepo = new Mock&lt;ILejemaalRepository&gt;();</a:t>
            </a:r>
            <a:endParaRPr lang="en-US" sz="1300" dirty="0"/>
          </a:p>
          <a:p>
            <a:pPr indent="0" marL="0">
              <a:lnSpc>
                <a:spcPct val="90000"/>
              </a:lnSpc>
              <a:spcAft>
                <a:spcPts val="100"/>
              </a:spcAft>
              <a:buNone/>
            </a:pPr>
            <a:r>
              <a:rPr lang="en-US" sz="1300" dirty="0">
                <a:solidFill>
                  <a:srgbClr val="CDD6F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lejemaalRepo.Setup(repo =&gt; repo.HentLejemaal()).Returns(lejemaal);</a:t>
            </a:r>
            <a:endParaRPr lang="en-US" sz="1300" dirty="0"/>
          </a:p>
          <a:p>
            <a:pPr indent="0" marL="0">
              <a:lnSpc>
                <a:spcPct val="90000"/>
              </a:lnSpc>
              <a:spcAft>
                <a:spcPts val="100"/>
              </a:spcAft>
              <a:buNone/>
            </a:pPr>
            <a:r>
              <a:rPr lang="en-US" sz="1300" dirty="0">
                <a:solidFill>
                  <a:srgbClr val="CDD6F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var service = new EjendomBeregnerService(lejemaalRepo.Object)</a:t>
            </a:r>
            <a:endParaRPr lang="en-US" sz="1300" dirty="0"/>
          </a:p>
          <a:p>
            <a:pPr indent="0" marL="0">
              <a:lnSpc>
                <a:spcPct val="90000"/>
              </a:lnSpc>
              <a:spcAft>
                <a:spcPts val="100"/>
              </a:spcAft>
              <a:buNone/>
            </a:pPr>
            <a:r>
              <a:rPr lang="en-US" sz="1300" dirty="0">
                <a:solidFill>
                  <a:srgbClr val="CDD6F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                  as IEjendomBeregnerService;</a:t>
            </a:r>
            <a:endParaRPr lang="en-US" sz="1300" dirty="0"/>
          </a:p>
          <a:p>
            <a:pPr indent="0" marL="0">
              <a:lnSpc>
                <a:spcPct val="90000"/>
              </a:lnSpc>
              <a:spcAft>
                <a:spcPts val="100"/>
              </a:spcAft>
              <a:buNone/>
            </a:pPr>
            <a:endParaRPr lang="en-US" sz="1300" dirty="0"/>
          </a:p>
          <a:p>
            <a:pPr indent="0" marL="0">
              <a:lnSpc>
                <a:spcPct val="90000"/>
              </a:lnSpc>
              <a:spcAft>
                <a:spcPts val="100"/>
              </a:spcAft>
              <a:buNone/>
            </a:pPr>
            <a:r>
              <a:rPr lang="en-US" sz="1300" dirty="0">
                <a:solidFill>
                  <a:srgbClr val="CDD6F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// Act</a:t>
            </a:r>
            <a:endParaRPr lang="en-US" sz="1300" dirty="0"/>
          </a:p>
          <a:p>
            <a:pPr indent="0" marL="0">
              <a:lnSpc>
                <a:spcPct val="90000"/>
              </a:lnSpc>
              <a:spcAft>
                <a:spcPts val="100"/>
              </a:spcAft>
              <a:buNone/>
            </a:pPr>
            <a:r>
              <a:rPr lang="en-US" sz="1300" dirty="0">
                <a:solidFill>
                  <a:srgbClr val="CDD6F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var actual = service.BeregnKvadratmeter();</a:t>
            </a:r>
            <a:endParaRPr lang="en-US" sz="1300" dirty="0"/>
          </a:p>
          <a:p>
            <a:pPr indent="0" marL="0">
              <a:lnSpc>
                <a:spcPct val="90000"/>
              </a:lnSpc>
              <a:spcAft>
                <a:spcPts val="100"/>
              </a:spcAft>
              <a:buNone/>
            </a:pPr>
            <a:endParaRPr lang="en-US" sz="1300" dirty="0"/>
          </a:p>
          <a:p>
            <a:pPr indent="0" marL="0">
              <a:lnSpc>
                <a:spcPct val="90000"/>
              </a:lnSpc>
              <a:spcAft>
                <a:spcPts val="100"/>
              </a:spcAft>
              <a:buNone/>
            </a:pPr>
            <a:r>
              <a:rPr lang="en-US" sz="1300" dirty="0">
                <a:solidFill>
                  <a:srgbClr val="CDD6F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// Assert</a:t>
            </a:r>
            <a:endParaRPr lang="en-US" sz="1300" dirty="0"/>
          </a:p>
          <a:p>
            <a:pPr indent="0" marL="0">
              <a:lnSpc>
                <a:spcPct val="90000"/>
              </a:lnSpc>
              <a:spcAft>
                <a:spcPts val="100"/>
              </a:spcAft>
              <a:buNone/>
            </a:pPr>
            <a:r>
              <a:rPr lang="en-US" sz="1300" dirty="0">
                <a:solidFill>
                  <a:srgbClr val="CDD6F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Assert.Equal(expected, actual);</a:t>
            </a:r>
            <a:endParaRPr lang="en-US" sz="1300" dirty="0"/>
          </a:p>
          <a:p>
            <a:pPr indent="0" marL="0">
              <a:lnSpc>
                <a:spcPct val="90000"/>
              </a:lnSpc>
              <a:spcAft>
                <a:spcPts val="100"/>
              </a:spcAft>
              <a:buNone/>
            </a:pPr>
            <a:r>
              <a:rPr lang="en-US" sz="1300" dirty="0">
                <a:solidFill>
                  <a:srgbClr val="CDD6F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}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02D6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002D62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UCL - Programmering 2. semester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228600"/>
            <a:ext cx="10698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2D6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Analyse: EjendomsberegnerServiceTest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3566160" cy="4114800"/>
          </a:xfrm>
          <a:prstGeom prst="roundRect">
            <a:avLst>
              <a:gd name="adj" fmla="val 3846"/>
            </a:avLst>
          </a:prstGeom>
          <a:solidFill>
            <a:srgbClr val="0056A4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554480"/>
            <a:ext cx="320040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Arrange
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1. Opret test-data
   (List&lt;Lejemaal&gt;)
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2. Definer expected
   (125.0)
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3. Mock ILejemaalRepository
   Setup HentLejemaal()
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4. Opret SUT via</a:t>
            </a:r>
            <a:endParaRPr lang="en-US" sz="24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   constructor injection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297680" y="1371600"/>
            <a:ext cx="3566160" cy="4114800"/>
          </a:xfrm>
          <a:prstGeom prst="roundRect">
            <a:avLst>
              <a:gd name="adj" fmla="val 3846"/>
            </a:avLst>
          </a:prstGeom>
          <a:solidFill>
            <a:srgbClr val="008CBA"/>
          </a:solidFill>
          <a:ln/>
        </p:spPr>
      </p:sp>
      <p:sp>
        <p:nvSpPr>
          <p:cNvPr id="9" name="Text 7"/>
          <p:cNvSpPr/>
          <p:nvPr/>
        </p:nvSpPr>
        <p:spPr>
          <a:xfrm>
            <a:off x="4480560" y="1554480"/>
            <a:ext cx="320040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Act
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Kald BeregnKvadratmeter()
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Bemærk cast:
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service as
  IEjendomBeregnerService
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Nødvendig pga. eksplicit</a:t>
            </a:r>
            <a:endParaRPr lang="en-US" sz="24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interface-implementering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8138160" y="1371600"/>
            <a:ext cx="3566160" cy="4114800"/>
          </a:xfrm>
          <a:prstGeom prst="roundRect">
            <a:avLst>
              <a:gd name="adj" fmla="val 3846"/>
            </a:avLst>
          </a:prstGeom>
          <a:solidFill>
            <a:srgbClr val="40A02B"/>
          </a:solidFill>
          <a:ln/>
        </p:spPr>
      </p:sp>
      <p:sp>
        <p:nvSpPr>
          <p:cNvPr id="11" name="Text 9"/>
          <p:cNvSpPr/>
          <p:nvPr/>
        </p:nvSpPr>
        <p:spPr>
          <a:xfrm>
            <a:off x="8321040" y="1554480"/>
            <a:ext cx="320040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Assert
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Assert.Equal(
  expected, actual)
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Sammenligner:
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expected = 125.0
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actual = 50.0 + 75.0</a:t>
            </a:r>
            <a:endParaRPr lang="en-US" sz="24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       = 125.0 ✓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731520" y="5669280"/>
            <a:ext cx="1069848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6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SUT = System Under Test = EjendomBeregnerService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02D6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002D62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UCL - Programmering 2. semester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228600"/>
            <a:ext cx="10698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2D6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LejemaalFraFilRepository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731520" y="1280160"/>
            <a:ext cx="10698480" cy="5029200"/>
          </a:xfrm>
          <a:prstGeom prst="roundRect">
            <a:avLst>
              <a:gd name="adj" fmla="val 1818"/>
            </a:avLst>
          </a:prstGeom>
          <a:solidFill>
            <a:srgbClr val="1E1E2E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389888"/>
            <a:ext cx="10332720" cy="4809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0000"/>
              </a:lnSpc>
              <a:spcAft>
                <a:spcPts val="100"/>
              </a:spcAft>
              <a:buNone/>
            </a:pPr>
            <a:r>
              <a:rPr lang="en-US" sz="1300" dirty="0">
                <a:solidFill>
                  <a:srgbClr val="CDD6F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public class LejemaalFraFilRepository : ILejemaalRepository</a:t>
            </a:r>
            <a:endParaRPr lang="en-US" sz="1300" dirty="0"/>
          </a:p>
          <a:p>
            <a:pPr indent="0" marL="0">
              <a:lnSpc>
                <a:spcPct val="90000"/>
              </a:lnSpc>
              <a:spcAft>
                <a:spcPts val="100"/>
              </a:spcAft>
              <a:buNone/>
            </a:pPr>
            <a:r>
              <a:rPr lang="en-US" sz="1300" dirty="0">
                <a:solidFill>
                  <a:srgbClr val="CDD6F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{</a:t>
            </a:r>
            <a:endParaRPr lang="en-US" sz="1300" dirty="0"/>
          </a:p>
          <a:p>
            <a:pPr indent="0" marL="0">
              <a:lnSpc>
                <a:spcPct val="90000"/>
              </a:lnSpc>
              <a:spcAft>
                <a:spcPts val="100"/>
              </a:spcAft>
              <a:buNone/>
            </a:pPr>
            <a:r>
              <a:rPr lang="en-US" sz="1300" dirty="0">
                <a:solidFill>
                  <a:srgbClr val="CDD6F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private readonly IFile _dataFile;</a:t>
            </a:r>
            <a:endParaRPr lang="en-US" sz="1300" dirty="0"/>
          </a:p>
          <a:p>
            <a:pPr indent="0" marL="0">
              <a:lnSpc>
                <a:spcPct val="90000"/>
              </a:lnSpc>
              <a:spcAft>
                <a:spcPts val="100"/>
              </a:spcAft>
              <a:buNone/>
            </a:pPr>
            <a:endParaRPr lang="en-US" sz="1300" dirty="0"/>
          </a:p>
          <a:p>
            <a:pPr indent="0" marL="0">
              <a:lnSpc>
                <a:spcPct val="90000"/>
              </a:lnSpc>
              <a:spcAft>
                <a:spcPts val="100"/>
              </a:spcAft>
              <a:buNone/>
            </a:pPr>
            <a:r>
              <a:rPr lang="en-US" sz="1300" dirty="0">
                <a:solidFill>
                  <a:srgbClr val="CDD6F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public LejemaalFraFilRepository(IFile dataFile)</a:t>
            </a:r>
            <a:endParaRPr lang="en-US" sz="1300" dirty="0"/>
          </a:p>
          <a:p>
            <a:pPr indent="0" marL="0">
              <a:lnSpc>
                <a:spcPct val="90000"/>
              </a:lnSpc>
              <a:spcAft>
                <a:spcPts val="100"/>
              </a:spcAft>
              <a:buNone/>
            </a:pPr>
            <a:r>
              <a:rPr lang="en-US" sz="1300" dirty="0">
                <a:solidFill>
                  <a:srgbClr val="CDD6F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{</a:t>
            </a:r>
            <a:endParaRPr lang="en-US" sz="1300" dirty="0"/>
          </a:p>
          <a:p>
            <a:pPr indent="0" marL="0">
              <a:lnSpc>
                <a:spcPct val="90000"/>
              </a:lnSpc>
              <a:spcAft>
                <a:spcPts val="100"/>
              </a:spcAft>
              <a:buNone/>
            </a:pPr>
            <a:r>
              <a:rPr lang="en-US" sz="1300" dirty="0">
                <a:solidFill>
                  <a:srgbClr val="CDD6F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    _dataFile = dataFile;</a:t>
            </a:r>
            <a:endParaRPr lang="en-US" sz="1300" dirty="0"/>
          </a:p>
          <a:p>
            <a:pPr indent="0" marL="0">
              <a:lnSpc>
                <a:spcPct val="90000"/>
              </a:lnSpc>
              <a:spcAft>
                <a:spcPts val="100"/>
              </a:spcAft>
              <a:buNone/>
            </a:pPr>
            <a:r>
              <a:rPr lang="en-US" sz="1300" dirty="0">
                <a:solidFill>
                  <a:srgbClr val="CDD6F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}</a:t>
            </a:r>
            <a:endParaRPr lang="en-US" sz="1300" dirty="0"/>
          </a:p>
          <a:p>
            <a:pPr indent="0" marL="0">
              <a:lnSpc>
                <a:spcPct val="90000"/>
              </a:lnSpc>
              <a:spcAft>
                <a:spcPts val="100"/>
              </a:spcAft>
              <a:buNone/>
            </a:pPr>
            <a:endParaRPr lang="en-US" sz="1300" dirty="0"/>
          </a:p>
          <a:p>
            <a:pPr indent="0" marL="0">
              <a:lnSpc>
                <a:spcPct val="90000"/>
              </a:lnSpc>
              <a:spcAft>
                <a:spcPts val="100"/>
              </a:spcAft>
              <a:buNone/>
            </a:pPr>
            <a:r>
              <a:rPr lang="en-US" sz="1300" dirty="0">
                <a:solidFill>
                  <a:srgbClr val="CDD6F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List&lt;Lejemaal&gt; ILejemaalRepository.HentLejemaal()</a:t>
            </a:r>
            <a:endParaRPr lang="en-US" sz="1300" dirty="0"/>
          </a:p>
          <a:p>
            <a:pPr indent="0" marL="0">
              <a:lnSpc>
                <a:spcPct val="90000"/>
              </a:lnSpc>
              <a:spcAft>
                <a:spcPts val="100"/>
              </a:spcAft>
              <a:buNone/>
            </a:pPr>
            <a:r>
              <a:rPr lang="en-US" sz="1300" dirty="0">
                <a:solidFill>
                  <a:srgbClr val="CDD6F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{</a:t>
            </a:r>
            <a:endParaRPr lang="en-US" sz="1300" dirty="0"/>
          </a:p>
          <a:p>
            <a:pPr indent="0" marL="0">
              <a:lnSpc>
                <a:spcPct val="90000"/>
              </a:lnSpc>
              <a:spcAft>
                <a:spcPts val="100"/>
              </a:spcAft>
              <a:buNone/>
            </a:pPr>
            <a:r>
              <a:rPr lang="en-US" sz="1300" dirty="0">
                <a:solidFill>
                  <a:srgbClr val="CDD6F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    var raaData = _dataFile.ReadAllLines().Skip(1).ToArray();</a:t>
            </a:r>
            <a:endParaRPr lang="en-US" sz="1300" dirty="0"/>
          </a:p>
          <a:p>
            <a:pPr indent="0" marL="0">
              <a:lnSpc>
                <a:spcPct val="90000"/>
              </a:lnSpc>
              <a:spcAft>
                <a:spcPts val="100"/>
              </a:spcAft>
              <a:buNone/>
            </a:pPr>
            <a:r>
              <a:rPr lang="en-US" sz="1300" dirty="0">
                <a:solidFill>
                  <a:srgbClr val="CDD6F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    var lejemaal = Konverter(raaData);</a:t>
            </a:r>
            <a:endParaRPr lang="en-US" sz="1300" dirty="0"/>
          </a:p>
          <a:p>
            <a:pPr indent="0" marL="0">
              <a:lnSpc>
                <a:spcPct val="90000"/>
              </a:lnSpc>
              <a:spcAft>
                <a:spcPts val="100"/>
              </a:spcAft>
              <a:buNone/>
            </a:pPr>
            <a:r>
              <a:rPr lang="en-US" sz="1300" dirty="0">
                <a:solidFill>
                  <a:srgbClr val="CDD6F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    return lejemaal;</a:t>
            </a:r>
            <a:endParaRPr lang="en-US" sz="1300" dirty="0"/>
          </a:p>
          <a:p>
            <a:pPr indent="0" marL="0">
              <a:lnSpc>
                <a:spcPct val="90000"/>
              </a:lnSpc>
              <a:spcAft>
                <a:spcPts val="100"/>
              </a:spcAft>
              <a:buNone/>
            </a:pPr>
            <a:r>
              <a:rPr lang="en-US" sz="1300" dirty="0">
                <a:solidFill>
                  <a:srgbClr val="CDD6F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}</a:t>
            </a:r>
            <a:endParaRPr lang="en-US" sz="1300" dirty="0"/>
          </a:p>
          <a:p>
            <a:pPr indent="0" marL="0">
              <a:lnSpc>
                <a:spcPct val="90000"/>
              </a:lnSpc>
              <a:spcAft>
                <a:spcPts val="100"/>
              </a:spcAft>
              <a:buNone/>
            </a:pPr>
            <a:endParaRPr lang="en-US" sz="1300" dirty="0"/>
          </a:p>
          <a:p>
            <a:pPr indent="0" marL="0">
              <a:lnSpc>
                <a:spcPct val="90000"/>
              </a:lnSpc>
              <a:spcAft>
                <a:spcPts val="100"/>
              </a:spcAft>
              <a:buNone/>
            </a:pPr>
            <a:r>
              <a:rPr lang="en-US" sz="1300" dirty="0">
                <a:solidFill>
                  <a:srgbClr val="CDD6F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protected Lejemaal DanLejemaalObjekt(string lejemaalData)</a:t>
            </a:r>
            <a:endParaRPr lang="en-US" sz="1300" dirty="0"/>
          </a:p>
          <a:p>
            <a:pPr indent="0" marL="0">
              <a:lnSpc>
                <a:spcPct val="90000"/>
              </a:lnSpc>
              <a:spcAft>
                <a:spcPts val="100"/>
              </a:spcAft>
              <a:buNone/>
            </a:pPr>
            <a:r>
              <a:rPr lang="en-US" sz="1300" dirty="0">
                <a:solidFill>
                  <a:srgbClr val="CDD6F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{</a:t>
            </a:r>
            <a:endParaRPr lang="en-US" sz="1300" dirty="0"/>
          </a:p>
          <a:p>
            <a:pPr indent="0" marL="0">
              <a:lnSpc>
                <a:spcPct val="90000"/>
              </a:lnSpc>
              <a:spcAft>
                <a:spcPts val="100"/>
              </a:spcAft>
              <a:buNone/>
            </a:pPr>
            <a:r>
              <a:rPr lang="en-US" sz="1300" dirty="0">
                <a:solidFill>
                  <a:srgbClr val="CDD6F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    var lejemaalParts = lejemaalData.Split(';');</a:t>
            </a:r>
            <a:endParaRPr lang="en-US" sz="1300" dirty="0"/>
          </a:p>
          <a:p>
            <a:pPr indent="0" marL="0">
              <a:lnSpc>
                <a:spcPct val="90000"/>
              </a:lnSpc>
              <a:spcAft>
                <a:spcPts val="100"/>
              </a:spcAft>
              <a:buNone/>
            </a:pPr>
            <a:r>
              <a:rPr lang="en-US" sz="1300" dirty="0">
                <a:solidFill>
                  <a:srgbClr val="CDD6F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    if (lejemaalParts.Length &lt; 3)</a:t>
            </a:r>
            <a:endParaRPr lang="en-US" sz="1300" dirty="0"/>
          </a:p>
          <a:p>
            <a:pPr indent="0" marL="0">
              <a:lnSpc>
                <a:spcPct val="90000"/>
              </a:lnSpc>
              <a:spcAft>
                <a:spcPts val="100"/>
              </a:spcAft>
              <a:buNone/>
            </a:pPr>
            <a:r>
              <a:rPr lang="en-US" sz="1300" dirty="0">
                <a:solidFill>
                  <a:srgbClr val="CDD6F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        throw new Exception("Filformat forkert...");</a:t>
            </a:r>
            <a:endParaRPr lang="en-US" sz="1300" dirty="0"/>
          </a:p>
          <a:p>
            <a:pPr indent="0" marL="0">
              <a:lnSpc>
                <a:spcPct val="90000"/>
              </a:lnSpc>
              <a:spcAft>
                <a:spcPts val="100"/>
              </a:spcAft>
              <a:buNone/>
            </a:pPr>
            <a:r>
              <a:rPr lang="en-US" sz="1300" dirty="0">
                <a:solidFill>
                  <a:srgbClr val="CDD6F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    // ... parsing med TryParse og RemoveQuotes</a:t>
            </a:r>
            <a:endParaRPr lang="en-US" sz="1300" dirty="0"/>
          </a:p>
          <a:p>
            <a:pPr indent="0" marL="0">
              <a:lnSpc>
                <a:spcPct val="90000"/>
              </a:lnSpc>
              <a:spcAft>
                <a:spcPts val="100"/>
              </a:spcAft>
              <a:buNone/>
            </a:pPr>
            <a:r>
              <a:rPr lang="en-US" sz="1300" dirty="0">
                <a:solidFill>
                  <a:srgbClr val="CDD6F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}</a:t>
            </a:r>
            <a:endParaRPr lang="en-US" sz="1300" dirty="0"/>
          </a:p>
          <a:p>
            <a:pPr indent="0" marL="0">
              <a:lnSpc>
                <a:spcPct val="90000"/>
              </a:lnSpc>
              <a:spcAft>
                <a:spcPts val="100"/>
              </a:spcAft>
              <a:buNone/>
            </a:pPr>
            <a:r>
              <a:rPr lang="en-US" sz="1300" dirty="0">
                <a:solidFill>
                  <a:srgbClr val="CDD6F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}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5029200"/>
            <a:ext cx="1069848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Constructor injection: IFile (adapter) injiceres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HentLejemaal(): læser linjer, springer header over, konverterer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DanLejemaalObjekt(): parser en enkelt linje til Lejemaal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protected metoder - testes via Stub (se næste slides)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02D6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002D62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UCL - Programmering 2. semester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228600"/>
            <a:ext cx="10698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2D6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 2: LejemaalFraFilRepository - HentLejemaal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731520" y="1188720"/>
            <a:ext cx="10698480" cy="640080"/>
          </a:xfrm>
          <a:prstGeom prst="roundRect">
            <a:avLst>
              <a:gd name="adj" fmla="val 14286"/>
            </a:avLst>
          </a:prstGeom>
          <a:solidFill>
            <a:srgbClr val="F2F2F2"/>
          </a:solidFill>
          <a:ln w="19050">
            <a:solidFill>
              <a:srgbClr val="0056A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188720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2D6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Mock IFile → test at HentLejemaal parser CSV-data korrekt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31520" y="1920240"/>
            <a:ext cx="10698480" cy="5029200"/>
          </a:xfrm>
          <a:prstGeom prst="roundRect">
            <a:avLst>
              <a:gd name="adj" fmla="val 1818"/>
            </a:avLst>
          </a:prstGeom>
          <a:solidFill>
            <a:srgbClr val="1E1E2E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029968"/>
            <a:ext cx="10332720" cy="4809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0000"/>
              </a:lnSpc>
              <a:spcAft>
                <a:spcPts val="100"/>
              </a:spcAft>
              <a:buNone/>
            </a:pPr>
            <a:r>
              <a:rPr lang="en-US" sz="1200" dirty="0">
                <a:solidFill>
                  <a:srgbClr val="CDD6F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[Fact]</a:t>
            </a:r>
            <a:endParaRPr lang="en-US" sz="1200" dirty="0"/>
          </a:p>
          <a:p>
            <a:pPr indent="0" marL="0">
              <a:lnSpc>
                <a:spcPct val="90000"/>
              </a:lnSpc>
              <a:spcAft>
                <a:spcPts val="100"/>
              </a:spcAft>
              <a:buNone/>
            </a:pPr>
            <a:r>
              <a:rPr lang="en-US" sz="1200" dirty="0">
                <a:solidFill>
                  <a:srgbClr val="CDD6F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public void Given_HentLejemaal_Faar_Korrekte_Datalinjer__Then_Liste_Dannes_Korrekt()</a:t>
            </a:r>
            <a:endParaRPr lang="en-US" sz="1200" dirty="0"/>
          </a:p>
          <a:p>
            <a:pPr indent="0" marL="0">
              <a:lnSpc>
                <a:spcPct val="90000"/>
              </a:lnSpc>
              <a:spcAft>
                <a:spcPts val="100"/>
              </a:spcAft>
              <a:buNone/>
            </a:pPr>
            <a:r>
              <a:rPr lang="en-US" sz="1200" dirty="0">
                <a:solidFill>
                  <a:srgbClr val="CDD6F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{</a:t>
            </a:r>
            <a:endParaRPr lang="en-US" sz="1200" dirty="0"/>
          </a:p>
          <a:p>
            <a:pPr indent="0" marL="0">
              <a:lnSpc>
                <a:spcPct val="90000"/>
              </a:lnSpc>
              <a:spcAft>
                <a:spcPts val="100"/>
              </a:spcAft>
              <a:buNone/>
            </a:pPr>
            <a:r>
              <a:rPr lang="en-US" sz="1200" dirty="0">
                <a:solidFill>
                  <a:srgbClr val="CDD6F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// Arrange</a:t>
            </a:r>
            <a:endParaRPr lang="en-US" sz="1200" dirty="0"/>
          </a:p>
          <a:p>
            <a:pPr indent="0" marL="0">
              <a:lnSpc>
                <a:spcPct val="90000"/>
              </a:lnSpc>
              <a:spcAft>
                <a:spcPts val="100"/>
              </a:spcAft>
              <a:buNone/>
            </a:pPr>
            <a:r>
              <a:rPr lang="en-US" sz="1200" dirty="0">
                <a:solidFill>
                  <a:srgbClr val="CDD6F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var lejemaalData = new[]</a:t>
            </a:r>
            <a:endParaRPr lang="en-US" sz="1200" dirty="0"/>
          </a:p>
          <a:p>
            <a:pPr indent="0" marL="0">
              <a:lnSpc>
                <a:spcPct val="90000"/>
              </a:lnSpc>
              <a:spcAft>
                <a:spcPts val="100"/>
              </a:spcAft>
              <a:buNone/>
            </a:pPr>
            <a:r>
              <a:rPr lang="en-US" sz="1200" dirty="0">
                <a:solidFill>
                  <a:srgbClr val="CDD6F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{</a:t>
            </a:r>
            <a:endParaRPr lang="en-US" sz="1200" dirty="0"/>
          </a:p>
          <a:p>
            <a:pPr indent="0" marL="0">
              <a:lnSpc>
                <a:spcPct val="90000"/>
              </a:lnSpc>
              <a:spcAft>
                <a:spcPts val="100"/>
              </a:spcAft>
              <a:buNone/>
            </a:pPr>
            <a:r>
              <a:rPr lang="en-US" sz="1200" dirty="0">
                <a:solidFill>
                  <a:srgbClr val="CDD6F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    new string("\"lejlighednummer\"; \"kvadratmeter\"; \"antal rum\""),</a:t>
            </a:r>
            <a:endParaRPr lang="en-US" sz="1200" dirty="0"/>
          </a:p>
          <a:p>
            <a:pPr indent="0" marL="0">
              <a:lnSpc>
                <a:spcPct val="90000"/>
              </a:lnSpc>
              <a:spcAft>
                <a:spcPts val="100"/>
              </a:spcAft>
              <a:buNone/>
            </a:pPr>
            <a:r>
              <a:rPr lang="en-US" sz="1200" dirty="0">
                <a:solidFill>
                  <a:srgbClr val="CDD6F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    new string("\"101\"; \"755\"; \"3\""),</a:t>
            </a:r>
            <a:endParaRPr lang="en-US" sz="1200" dirty="0"/>
          </a:p>
          <a:p>
            <a:pPr indent="0" marL="0">
              <a:lnSpc>
                <a:spcPct val="90000"/>
              </a:lnSpc>
              <a:spcAft>
                <a:spcPts val="100"/>
              </a:spcAft>
              <a:buNone/>
            </a:pPr>
            <a:r>
              <a:rPr lang="en-US" sz="1200" dirty="0">
                <a:solidFill>
                  <a:srgbClr val="CDD6F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    new string("\"102\"; \"600\"; \"2\"")</a:t>
            </a:r>
            <a:endParaRPr lang="en-US" sz="1200" dirty="0"/>
          </a:p>
          <a:p>
            <a:pPr indent="0" marL="0">
              <a:lnSpc>
                <a:spcPct val="90000"/>
              </a:lnSpc>
              <a:spcAft>
                <a:spcPts val="100"/>
              </a:spcAft>
              <a:buNone/>
            </a:pPr>
            <a:r>
              <a:rPr lang="en-US" sz="1200" dirty="0">
                <a:solidFill>
                  <a:srgbClr val="CDD6F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};</a:t>
            </a:r>
            <a:endParaRPr lang="en-US" sz="1200" dirty="0"/>
          </a:p>
          <a:p>
            <a:pPr indent="0" marL="0">
              <a:lnSpc>
                <a:spcPct val="90000"/>
              </a:lnSpc>
              <a:spcAft>
                <a:spcPts val="100"/>
              </a:spcAft>
              <a:buNone/>
            </a:pPr>
            <a:endParaRPr lang="en-US" sz="1200" dirty="0"/>
          </a:p>
          <a:p>
            <a:pPr indent="0" marL="0">
              <a:lnSpc>
                <a:spcPct val="90000"/>
              </a:lnSpc>
              <a:spcAft>
                <a:spcPts val="100"/>
              </a:spcAft>
              <a:buNone/>
            </a:pPr>
            <a:r>
              <a:rPr lang="en-US" sz="1200" dirty="0">
                <a:solidFill>
                  <a:srgbClr val="CDD6F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var expected = new List&lt;Lejemaal&gt;</a:t>
            </a:r>
            <a:endParaRPr lang="en-US" sz="1200" dirty="0"/>
          </a:p>
          <a:p>
            <a:pPr indent="0" marL="0">
              <a:lnSpc>
                <a:spcPct val="90000"/>
              </a:lnSpc>
              <a:spcAft>
                <a:spcPts val="100"/>
              </a:spcAft>
              <a:buNone/>
            </a:pPr>
            <a:r>
              <a:rPr lang="en-US" sz="1200" dirty="0">
                <a:solidFill>
                  <a:srgbClr val="CDD6F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{</a:t>
            </a:r>
            <a:endParaRPr lang="en-US" sz="1200" dirty="0"/>
          </a:p>
          <a:p>
            <a:pPr indent="0" marL="0">
              <a:lnSpc>
                <a:spcPct val="90000"/>
              </a:lnSpc>
              <a:spcAft>
                <a:spcPts val="100"/>
              </a:spcAft>
              <a:buNone/>
            </a:pPr>
            <a:r>
              <a:rPr lang="en-US" sz="1200" dirty="0">
                <a:solidFill>
                  <a:srgbClr val="CDD6F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    new() { AntalRum = 3, Kvadratmeter = 755, Lejlighednummer = 101 },</a:t>
            </a:r>
            <a:endParaRPr lang="en-US" sz="1200" dirty="0"/>
          </a:p>
          <a:p>
            <a:pPr indent="0" marL="0">
              <a:lnSpc>
                <a:spcPct val="90000"/>
              </a:lnSpc>
              <a:spcAft>
                <a:spcPts val="100"/>
              </a:spcAft>
              <a:buNone/>
            </a:pPr>
            <a:r>
              <a:rPr lang="en-US" sz="1200" dirty="0">
                <a:solidFill>
                  <a:srgbClr val="CDD6F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    new() { AntalRum = 2, Kvadratmeter = 600, Lejlighednummer = 102 }</a:t>
            </a:r>
            <a:endParaRPr lang="en-US" sz="1200" dirty="0"/>
          </a:p>
          <a:p>
            <a:pPr indent="0" marL="0">
              <a:lnSpc>
                <a:spcPct val="90000"/>
              </a:lnSpc>
              <a:spcAft>
                <a:spcPts val="100"/>
              </a:spcAft>
              <a:buNone/>
            </a:pPr>
            <a:r>
              <a:rPr lang="en-US" sz="1200" dirty="0">
                <a:solidFill>
                  <a:srgbClr val="CDD6F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};</a:t>
            </a:r>
            <a:endParaRPr lang="en-US" sz="1200" dirty="0"/>
          </a:p>
          <a:p>
            <a:pPr indent="0" marL="0">
              <a:lnSpc>
                <a:spcPct val="90000"/>
              </a:lnSpc>
              <a:spcAft>
                <a:spcPts val="100"/>
              </a:spcAft>
              <a:buNone/>
            </a:pPr>
            <a:endParaRPr lang="en-US" sz="1200" dirty="0"/>
          </a:p>
          <a:p>
            <a:pPr indent="0" marL="0">
              <a:lnSpc>
                <a:spcPct val="90000"/>
              </a:lnSpc>
              <a:spcAft>
                <a:spcPts val="100"/>
              </a:spcAft>
              <a:buNone/>
            </a:pPr>
            <a:r>
              <a:rPr lang="en-US" sz="1200" dirty="0">
                <a:solidFill>
                  <a:srgbClr val="CDD6F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var file = new Mock&lt;IFile&gt;();</a:t>
            </a:r>
            <a:endParaRPr lang="en-US" sz="1200" dirty="0"/>
          </a:p>
          <a:p>
            <a:pPr indent="0" marL="0">
              <a:lnSpc>
                <a:spcPct val="90000"/>
              </a:lnSpc>
              <a:spcAft>
                <a:spcPts val="100"/>
              </a:spcAft>
              <a:buNone/>
            </a:pPr>
            <a:r>
              <a:rPr lang="en-US" sz="1200" dirty="0">
                <a:solidFill>
                  <a:srgbClr val="CDD6F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file.Setup(f =&gt; f.ReadAllLines()).Returns(lejemaalData);</a:t>
            </a:r>
            <a:endParaRPr lang="en-US" sz="1200" dirty="0"/>
          </a:p>
          <a:p>
            <a:pPr indent="0" marL="0">
              <a:lnSpc>
                <a:spcPct val="90000"/>
              </a:lnSpc>
              <a:spcAft>
                <a:spcPts val="100"/>
              </a:spcAft>
              <a:buNone/>
            </a:pPr>
            <a:r>
              <a:rPr lang="en-US" sz="1200" dirty="0">
                <a:solidFill>
                  <a:srgbClr val="CDD6F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var service = new LejemaalFraFilRepository(file.Object) as ILejemaalRepository;</a:t>
            </a:r>
            <a:endParaRPr lang="en-US" sz="1200" dirty="0"/>
          </a:p>
          <a:p>
            <a:pPr indent="0" marL="0">
              <a:lnSpc>
                <a:spcPct val="90000"/>
              </a:lnSpc>
              <a:spcAft>
                <a:spcPts val="100"/>
              </a:spcAft>
              <a:buNone/>
            </a:pPr>
            <a:endParaRPr lang="en-US" sz="1200" dirty="0"/>
          </a:p>
          <a:p>
            <a:pPr indent="0" marL="0">
              <a:lnSpc>
                <a:spcPct val="90000"/>
              </a:lnSpc>
              <a:spcAft>
                <a:spcPts val="100"/>
              </a:spcAft>
              <a:buNone/>
            </a:pPr>
            <a:r>
              <a:rPr lang="en-US" sz="1200" dirty="0">
                <a:solidFill>
                  <a:srgbClr val="CDD6F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// Act</a:t>
            </a:r>
            <a:endParaRPr lang="en-US" sz="1200" dirty="0"/>
          </a:p>
          <a:p>
            <a:pPr indent="0" marL="0">
              <a:lnSpc>
                <a:spcPct val="90000"/>
              </a:lnSpc>
              <a:spcAft>
                <a:spcPts val="100"/>
              </a:spcAft>
              <a:buNone/>
            </a:pPr>
            <a:r>
              <a:rPr lang="en-US" sz="1200" dirty="0">
                <a:solidFill>
                  <a:srgbClr val="CDD6F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var actual = service.HentLejemaal();</a:t>
            </a:r>
            <a:endParaRPr lang="en-US" sz="1200" dirty="0"/>
          </a:p>
          <a:p>
            <a:pPr indent="0" marL="0">
              <a:lnSpc>
                <a:spcPct val="90000"/>
              </a:lnSpc>
              <a:spcAft>
                <a:spcPts val="100"/>
              </a:spcAft>
              <a:buNone/>
            </a:pPr>
            <a:endParaRPr lang="en-US" sz="1200" dirty="0"/>
          </a:p>
          <a:p>
            <a:pPr indent="0" marL="0">
              <a:lnSpc>
                <a:spcPct val="90000"/>
              </a:lnSpc>
              <a:spcAft>
                <a:spcPts val="100"/>
              </a:spcAft>
              <a:buNone/>
            </a:pPr>
            <a:r>
              <a:rPr lang="en-US" sz="1200" dirty="0">
                <a:solidFill>
                  <a:srgbClr val="CDD6F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// Assert</a:t>
            </a:r>
            <a:endParaRPr lang="en-US" sz="1200" dirty="0"/>
          </a:p>
          <a:p>
            <a:pPr indent="0" marL="0">
              <a:lnSpc>
                <a:spcPct val="90000"/>
              </a:lnSpc>
              <a:spcAft>
                <a:spcPts val="100"/>
              </a:spcAft>
              <a:buNone/>
            </a:pPr>
            <a:r>
              <a:rPr lang="en-US" sz="1200" dirty="0">
                <a:solidFill>
                  <a:srgbClr val="CDD6F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Assert.Equal(expected, actual);  // Record comparison!</a:t>
            </a:r>
            <a:endParaRPr lang="en-US" sz="1200" dirty="0"/>
          </a:p>
          <a:p>
            <a:pPr indent="0" marL="0">
              <a:lnSpc>
                <a:spcPct val="90000"/>
              </a:lnSpc>
              <a:spcAft>
                <a:spcPts val="100"/>
              </a:spcAft>
              <a:buNone/>
            </a:pPr>
            <a:r>
              <a:rPr lang="en-US" sz="1200" dirty="0">
                <a:solidFill>
                  <a:srgbClr val="CDD6F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}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02D6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002D62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UCL - Programmering 2. semester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228600"/>
            <a:ext cx="10698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2D6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 3: Fejlhåndtering med [Theory]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731520" y="1188720"/>
            <a:ext cx="10698480" cy="640080"/>
          </a:xfrm>
          <a:prstGeom prst="roundRect">
            <a:avLst>
              <a:gd name="adj" fmla="val 14286"/>
            </a:avLst>
          </a:prstGeom>
          <a:solidFill>
            <a:srgbClr val="F2F2F2"/>
          </a:solidFill>
          <a:ln w="19050">
            <a:solidFill>
              <a:srgbClr val="0056A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188720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2D6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 at forkerte datatyper i CSV-linjer kaster Exception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31520" y="1920240"/>
            <a:ext cx="10698480" cy="4480560"/>
          </a:xfrm>
          <a:prstGeom prst="roundRect">
            <a:avLst>
              <a:gd name="adj" fmla="val 2041"/>
            </a:avLst>
          </a:prstGeom>
          <a:solidFill>
            <a:srgbClr val="1E1E2E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029968"/>
            <a:ext cx="10332720" cy="42611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0000"/>
              </a:lnSpc>
              <a:spcAft>
                <a:spcPts val="100"/>
              </a:spcAft>
              <a:buNone/>
            </a:pPr>
            <a:r>
              <a:rPr lang="en-US" sz="1400" dirty="0">
                <a:solidFill>
                  <a:srgbClr val="CDD6F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[Theory]</a:t>
            </a:r>
            <a:endParaRPr lang="en-US" sz="1400" dirty="0"/>
          </a:p>
          <a:p>
            <a:pPr indent="0" marL="0">
              <a:lnSpc>
                <a:spcPct val="90000"/>
              </a:lnSpc>
              <a:spcAft>
                <a:spcPts val="100"/>
              </a:spcAft>
              <a:buNone/>
            </a:pPr>
            <a:r>
              <a:rPr lang="en-US" sz="1400" dirty="0">
                <a:solidFill>
                  <a:srgbClr val="CDD6F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[InlineData("\"10x1\"; \"755\"; \"3\"")]       // Forkert int</a:t>
            </a:r>
            <a:endParaRPr lang="en-US" sz="1400" dirty="0"/>
          </a:p>
          <a:p>
            <a:pPr indent="0" marL="0">
              <a:lnSpc>
                <a:spcPct val="90000"/>
              </a:lnSpc>
              <a:spcAft>
                <a:spcPts val="100"/>
              </a:spcAft>
              <a:buNone/>
            </a:pPr>
            <a:r>
              <a:rPr lang="en-US" sz="1400" dirty="0">
                <a:solidFill>
                  <a:srgbClr val="CDD6F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[InlineData("\"10x1\"; \"755,0\"; \"3\"")]     // Forkert double</a:t>
            </a:r>
            <a:endParaRPr lang="en-US" sz="1400" dirty="0"/>
          </a:p>
          <a:p>
            <a:pPr indent="0" marL="0">
              <a:lnSpc>
                <a:spcPct val="90000"/>
              </a:lnSpc>
              <a:spcAft>
                <a:spcPts val="100"/>
              </a:spcAft>
              <a:buNone/>
            </a:pPr>
            <a:r>
              <a:rPr lang="en-US" sz="1400" dirty="0">
                <a:solidFill>
                  <a:srgbClr val="CDD6F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[InlineData("\"10x1\"; \"755,0\"; \"3.2\"")]   // Forkert int</a:t>
            </a:r>
            <a:endParaRPr lang="en-US" sz="1400" dirty="0"/>
          </a:p>
          <a:p>
            <a:pPr indent="0" marL="0">
              <a:lnSpc>
                <a:spcPct val="90000"/>
              </a:lnSpc>
              <a:spcAft>
                <a:spcPts val="100"/>
              </a:spcAft>
              <a:buNone/>
            </a:pPr>
            <a:r>
              <a:rPr lang="en-US" sz="1400" dirty="0">
                <a:solidFill>
                  <a:srgbClr val="CDD6F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public void Given_DanLejemaalObjekt_Faar_Forkerte_Datatyper__Then_Throw_Exception(</a:t>
            </a:r>
            <a:endParaRPr lang="en-US" sz="1400" dirty="0"/>
          </a:p>
          <a:p>
            <a:pPr indent="0" marL="0">
              <a:lnSpc>
                <a:spcPct val="90000"/>
              </a:lnSpc>
              <a:spcAft>
                <a:spcPts val="100"/>
              </a:spcAft>
              <a:buNone/>
            </a:pPr>
            <a:r>
              <a:rPr lang="en-US" sz="1400" dirty="0">
                <a:solidFill>
                  <a:srgbClr val="CDD6F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string lejemaalLinje)</a:t>
            </a:r>
            <a:endParaRPr lang="en-US" sz="1400" dirty="0"/>
          </a:p>
          <a:p>
            <a:pPr indent="0" marL="0">
              <a:lnSpc>
                <a:spcPct val="90000"/>
              </a:lnSpc>
              <a:spcAft>
                <a:spcPts val="100"/>
              </a:spcAft>
              <a:buNone/>
            </a:pPr>
            <a:r>
              <a:rPr lang="en-US" sz="1400" dirty="0">
                <a:solidFill>
                  <a:srgbClr val="CDD6F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{</a:t>
            </a:r>
            <a:endParaRPr lang="en-US" sz="1400" dirty="0"/>
          </a:p>
          <a:p>
            <a:pPr indent="0" marL="0">
              <a:lnSpc>
                <a:spcPct val="90000"/>
              </a:lnSpc>
              <a:spcAft>
                <a:spcPts val="100"/>
              </a:spcAft>
              <a:buNone/>
            </a:pPr>
            <a:r>
              <a:rPr lang="en-US" sz="1400" dirty="0">
                <a:solidFill>
                  <a:srgbClr val="CDD6F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// Arrange</a:t>
            </a:r>
            <a:endParaRPr lang="en-US" sz="1400" dirty="0"/>
          </a:p>
          <a:p>
            <a:pPr indent="0" marL="0">
              <a:lnSpc>
                <a:spcPct val="90000"/>
              </a:lnSpc>
              <a:spcAft>
                <a:spcPts val="100"/>
              </a:spcAft>
              <a:buNone/>
            </a:pPr>
            <a:r>
              <a:rPr lang="en-US" sz="1400" dirty="0">
                <a:solidFill>
                  <a:srgbClr val="CDD6F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var file = new Mock&lt;IFile&gt;();</a:t>
            </a:r>
            <a:endParaRPr lang="en-US" sz="1400" dirty="0"/>
          </a:p>
          <a:p>
            <a:pPr indent="0" marL="0">
              <a:lnSpc>
                <a:spcPct val="90000"/>
              </a:lnSpc>
              <a:spcAft>
                <a:spcPts val="100"/>
              </a:spcAft>
              <a:buNone/>
            </a:pPr>
            <a:r>
              <a:rPr lang="en-US" sz="1400" dirty="0">
                <a:solidFill>
                  <a:srgbClr val="CDD6F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file.Setup(f =&gt; f.ReadAllLines()).Returns(new string[1]);</a:t>
            </a:r>
            <a:endParaRPr lang="en-US" sz="1400" dirty="0"/>
          </a:p>
          <a:p>
            <a:pPr indent="0" marL="0">
              <a:lnSpc>
                <a:spcPct val="90000"/>
              </a:lnSpc>
              <a:spcAft>
                <a:spcPts val="100"/>
              </a:spcAft>
              <a:buNone/>
            </a:pPr>
            <a:r>
              <a:rPr lang="en-US" sz="1400" dirty="0">
                <a:solidFill>
                  <a:srgbClr val="CDD6F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var service = new LejemaalFraFilRepositoryStub(file.Object);</a:t>
            </a:r>
            <a:endParaRPr lang="en-US" sz="1400" dirty="0"/>
          </a:p>
          <a:p>
            <a:pPr indent="0" marL="0">
              <a:lnSpc>
                <a:spcPct val="90000"/>
              </a:lnSpc>
              <a:spcAft>
                <a:spcPts val="100"/>
              </a:spcAft>
              <a:buNone/>
            </a:pPr>
            <a:endParaRPr lang="en-US" sz="1400" dirty="0"/>
          </a:p>
          <a:p>
            <a:pPr indent="0" marL="0">
              <a:lnSpc>
                <a:spcPct val="90000"/>
              </a:lnSpc>
              <a:spcAft>
                <a:spcPts val="100"/>
              </a:spcAft>
              <a:buNone/>
            </a:pPr>
            <a:r>
              <a:rPr lang="en-US" sz="1400" dirty="0">
                <a:solidFill>
                  <a:srgbClr val="CDD6F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// Act &amp; Assert</a:t>
            </a:r>
            <a:endParaRPr lang="en-US" sz="1400" dirty="0"/>
          </a:p>
          <a:p>
            <a:pPr indent="0" marL="0">
              <a:lnSpc>
                <a:spcPct val="90000"/>
              </a:lnSpc>
              <a:spcAft>
                <a:spcPts val="100"/>
              </a:spcAft>
              <a:buNone/>
            </a:pPr>
            <a:r>
              <a:rPr lang="en-US" sz="1400" dirty="0">
                <a:solidFill>
                  <a:srgbClr val="CDD6F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Assert.Throws&lt;Exception&gt;(() =&gt; service.DanLejemaalObjekt(lejemaalLinje));</a:t>
            </a:r>
            <a:endParaRPr lang="en-US" sz="1400" dirty="0"/>
          </a:p>
          <a:p>
            <a:pPr indent="0" marL="0">
              <a:lnSpc>
                <a:spcPct val="90000"/>
              </a:lnSpc>
              <a:spcAft>
                <a:spcPts val="100"/>
              </a:spcAft>
              <a:buNone/>
            </a:pPr>
            <a:r>
              <a:rPr lang="en-US" sz="1400" dirty="0">
                <a:solidFill>
                  <a:srgbClr val="CDD6F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}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5120640"/>
            <a:ext cx="1069848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[Theory] med [InlineData] tester flere fejlscenarier i én testmetode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Assert.Throws&lt;Exception&gt; verificerer at en exception kastes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Bemærk: bruger Stub i stedet for direkte kald (protected metode)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02D6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002D62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UCL - Programmering 2. semester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228600"/>
            <a:ext cx="10698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2D6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 4: Forkert antal elementer i en linje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731520" y="1371600"/>
            <a:ext cx="10698480" cy="3931920"/>
          </a:xfrm>
          <a:prstGeom prst="roundRect">
            <a:avLst>
              <a:gd name="adj" fmla="val 2326"/>
            </a:avLst>
          </a:prstGeom>
          <a:solidFill>
            <a:srgbClr val="1E1E2E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481328"/>
            <a:ext cx="10332720" cy="37124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0000"/>
              </a:lnSpc>
              <a:spcAft>
                <a:spcPts val="100"/>
              </a:spcAft>
              <a:buNone/>
            </a:pPr>
            <a:r>
              <a:rPr lang="en-US" sz="1500" dirty="0">
                <a:solidFill>
                  <a:srgbClr val="CDD6F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[Theory]</a:t>
            </a:r>
            <a:endParaRPr lang="en-US" sz="1500" dirty="0"/>
          </a:p>
          <a:p>
            <a:pPr indent="0" marL="0">
              <a:lnSpc>
                <a:spcPct val="90000"/>
              </a:lnSpc>
              <a:spcAft>
                <a:spcPts val="100"/>
              </a:spcAft>
              <a:buNone/>
            </a:pPr>
            <a:r>
              <a:rPr lang="en-US" sz="1500" dirty="0">
                <a:solidFill>
                  <a:srgbClr val="CDD6F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[InlineData("\"101\"; \"755\"")]  // Kun 2 elementer i stedet for 3</a:t>
            </a:r>
            <a:endParaRPr lang="en-US" sz="1500" dirty="0"/>
          </a:p>
          <a:p>
            <a:pPr indent="0" marL="0">
              <a:lnSpc>
                <a:spcPct val="90000"/>
              </a:lnSpc>
              <a:spcAft>
                <a:spcPts val="100"/>
              </a:spcAft>
              <a:buNone/>
            </a:pPr>
            <a:r>
              <a:rPr lang="en-US" sz="1500" dirty="0">
                <a:solidFill>
                  <a:srgbClr val="CDD6F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public void Given_DanLejemaalObjekt_Faar_Forkerte_Antal_Elementer__Then_Throw_Exception(</a:t>
            </a:r>
            <a:endParaRPr lang="en-US" sz="1500" dirty="0"/>
          </a:p>
          <a:p>
            <a:pPr indent="0" marL="0">
              <a:lnSpc>
                <a:spcPct val="90000"/>
              </a:lnSpc>
              <a:spcAft>
                <a:spcPts val="100"/>
              </a:spcAft>
              <a:buNone/>
            </a:pPr>
            <a:r>
              <a:rPr lang="en-US" sz="1500" dirty="0">
                <a:solidFill>
                  <a:srgbClr val="CDD6F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string lejemaalLinje)</a:t>
            </a:r>
            <a:endParaRPr lang="en-US" sz="1500" dirty="0"/>
          </a:p>
          <a:p>
            <a:pPr indent="0" marL="0">
              <a:lnSpc>
                <a:spcPct val="90000"/>
              </a:lnSpc>
              <a:spcAft>
                <a:spcPts val="100"/>
              </a:spcAft>
              <a:buNone/>
            </a:pPr>
            <a:r>
              <a:rPr lang="en-US" sz="1500" dirty="0">
                <a:solidFill>
                  <a:srgbClr val="CDD6F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{</a:t>
            </a:r>
            <a:endParaRPr lang="en-US" sz="1500" dirty="0"/>
          </a:p>
          <a:p>
            <a:pPr indent="0" marL="0">
              <a:lnSpc>
                <a:spcPct val="90000"/>
              </a:lnSpc>
              <a:spcAft>
                <a:spcPts val="100"/>
              </a:spcAft>
              <a:buNone/>
            </a:pPr>
            <a:r>
              <a:rPr lang="en-US" sz="1500" dirty="0">
                <a:solidFill>
                  <a:srgbClr val="CDD6F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// Arrange</a:t>
            </a:r>
            <a:endParaRPr lang="en-US" sz="1500" dirty="0"/>
          </a:p>
          <a:p>
            <a:pPr indent="0" marL="0">
              <a:lnSpc>
                <a:spcPct val="90000"/>
              </a:lnSpc>
              <a:spcAft>
                <a:spcPts val="100"/>
              </a:spcAft>
              <a:buNone/>
            </a:pPr>
            <a:r>
              <a:rPr lang="en-US" sz="1500" dirty="0">
                <a:solidFill>
                  <a:srgbClr val="CDD6F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var file = new Mock&lt;IFile&gt;();</a:t>
            </a:r>
            <a:endParaRPr lang="en-US" sz="1500" dirty="0"/>
          </a:p>
          <a:p>
            <a:pPr indent="0" marL="0">
              <a:lnSpc>
                <a:spcPct val="90000"/>
              </a:lnSpc>
              <a:spcAft>
                <a:spcPts val="100"/>
              </a:spcAft>
              <a:buNone/>
            </a:pPr>
            <a:r>
              <a:rPr lang="en-US" sz="1500" dirty="0">
                <a:solidFill>
                  <a:srgbClr val="CDD6F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file.Setup(f =&gt; f.ReadAllLines()).Returns(new string[1]);</a:t>
            </a:r>
            <a:endParaRPr lang="en-US" sz="1500" dirty="0"/>
          </a:p>
          <a:p>
            <a:pPr indent="0" marL="0">
              <a:lnSpc>
                <a:spcPct val="90000"/>
              </a:lnSpc>
              <a:spcAft>
                <a:spcPts val="100"/>
              </a:spcAft>
              <a:buNone/>
            </a:pPr>
            <a:r>
              <a:rPr lang="en-US" sz="1500" dirty="0">
                <a:solidFill>
                  <a:srgbClr val="CDD6F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var service = new LejemaalFraFilRepositoryStub(file.Object);</a:t>
            </a:r>
            <a:endParaRPr lang="en-US" sz="1500" dirty="0"/>
          </a:p>
          <a:p>
            <a:pPr indent="0" marL="0">
              <a:lnSpc>
                <a:spcPct val="90000"/>
              </a:lnSpc>
              <a:spcAft>
                <a:spcPts val="100"/>
              </a:spcAft>
              <a:buNone/>
            </a:pPr>
            <a:endParaRPr lang="en-US" sz="1500" dirty="0"/>
          </a:p>
          <a:p>
            <a:pPr indent="0" marL="0">
              <a:lnSpc>
                <a:spcPct val="90000"/>
              </a:lnSpc>
              <a:spcAft>
                <a:spcPts val="100"/>
              </a:spcAft>
              <a:buNone/>
            </a:pPr>
            <a:r>
              <a:rPr lang="en-US" sz="1500" dirty="0">
                <a:solidFill>
                  <a:srgbClr val="CDD6F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// Act &amp; Assert</a:t>
            </a:r>
            <a:endParaRPr lang="en-US" sz="1500" dirty="0"/>
          </a:p>
          <a:p>
            <a:pPr indent="0" marL="0">
              <a:lnSpc>
                <a:spcPct val="90000"/>
              </a:lnSpc>
              <a:spcAft>
                <a:spcPts val="100"/>
              </a:spcAft>
              <a:buNone/>
            </a:pPr>
            <a:r>
              <a:rPr lang="en-US" sz="1500" dirty="0">
                <a:solidFill>
                  <a:srgbClr val="CDD6F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Assert.Throws&lt;Exception&gt;(() =&gt; service.DanLejemaalObjekt(lejemaalLinje));</a:t>
            </a:r>
            <a:endParaRPr lang="en-US" sz="1500" dirty="0"/>
          </a:p>
          <a:p>
            <a:pPr indent="0" marL="0">
              <a:lnSpc>
                <a:spcPct val="90000"/>
              </a:lnSpc>
              <a:spcAft>
                <a:spcPts val="100"/>
              </a:spcAft>
              <a:buNone/>
            </a:pPr>
            <a:r>
              <a:rPr lang="en-US" sz="1500" dirty="0">
                <a:solidFill>
                  <a:srgbClr val="CDD6F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}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4389120"/>
            <a:ext cx="1069848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Tester at linjer med færre end 3 semikolon-separerede felter kaster Exception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Validering sker i DanLejemaalObjekt: if (lejemaalParts.Length &lt; 3)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Vigtig edge case - hvad sker der med korrupte data?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02D6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002D62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UCL - Programmering 2. semester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228600"/>
            <a:ext cx="10698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2D6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Stub Pattern - Test af protected metoder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31520" y="11887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20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Problem: DanLejemaalObjekt() og Konverter() er protected</a:t>
            </a:r>
            <a:endParaRPr lang="en-US" sz="2000" dirty="0"/>
          </a:p>
          <a:p>
            <a:pPr>
              <a:spcAft>
                <a:spcPts val="600"/>
              </a:spcAft>
            </a:pPr>
            <a:r>
              <a:rPr lang="en-US" sz="20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Løsning: En Stub-klasse der arver og "åbner" metoderne med new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31520" y="2286000"/>
            <a:ext cx="10698480" cy="5029200"/>
          </a:xfrm>
          <a:prstGeom prst="roundRect">
            <a:avLst>
              <a:gd name="adj" fmla="val 1818"/>
            </a:avLst>
          </a:prstGeom>
          <a:solidFill>
            <a:srgbClr val="1E1E2E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395728"/>
            <a:ext cx="10332720" cy="4809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0000"/>
              </a:lnSpc>
              <a:spcAft>
                <a:spcPts val="100"/>
              </a:spcAft>
              <a:buNone/>
            </a:pPr>
            <a:r>
              <a:rPr lang="en-US" sz="1400" dirty="0">
                <a:solidFill>
                  <a:srgbClr val="CDD6F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public class LejemaalFraFilRepositoryStub : LejemaalFraFilRepository</a:t>
            </a:r>
            <a:endParaRPr lang="en-US" sz="1400" dirty="0"/>
          </a:p>
          <a:p>
            <a:pPr indent="0" marL="0">
              <a:lnSpc>
                <a:spcPct val="90000"/>
              </a:lnSpc>
              <a:spcAft>
                <a:spcPts val="100"/>
              </a:spcAft>
              <a:buNone/>
            </a:pPr>
            <a:r>
              <a:rPr lang="en-US" sz="1400" dirty="0">
                <a:solidFill>
                  <a:srgbClr val="CDD6F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{</a:t>
            </a:r>
            <a:endParaRPr lang="en-US" sz="1400" dirty="0"/>
          </a:p>
          <a:p>
            <a:pPr indent="0" marL="0">
              <a:lnSpc>
                <a:spcPct val="90000"/>
              </a:lnSpc>
              <a:spcAft>
                <a:spcPts val="100"/>
              </a:spcAft>
              <a:buNone/>
            </a:pPr>
            <a:r>
              <a:rPr lang="en-US" sz="1400" dirty="0">
                <a:solidFill>
                  <a:srgbClr val="CDD6F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public LejemaalFraFilRepositoryStub(IFile dataFile) : base(dataFile)</a:t>
            </a:r>
            <a:endParaRPr lang="en-US" sz="1400" dirty="0"/>
          </a:p>
          <a:p>
            <a:pPr indent="0" marL="0">
              <a:lnSpc>
                <a:spcPct val="90000"/>
              </a:lnSpc>
              <a:spcAft>
                <a:spcPts val="100"/>
              </a:spcAft>
              <a:buNone/>
            </a:pPr>
            <a:r>
              <a:rPr lang="en-US" sz="1400" dirty="0">
                <a:solidFill>
                  <a:srgbClr val="CDD6F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{</a:t>
            </a:r>
            <a:endParaRPr lang="en-US" sz="1400" dirty="0"/>
          </a:p>
          <a:p>
            <a:pPr indent="0" marL="0">
              <a:lnSpc>
                <a:spcPct val="90000"/>
              </a:lnSpc>
              <a:spcAft>
                <a:spcPts val="100"/>
              </a:spcAft>
              <a:buNone/>
            </a:pPr>
            <a:r>
              <a:rPr lang="en-US" sz="1400" dirty="0">
                <a:solidFill>
                  <a:srgbClr val="CDD6F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}</a:t>
            </a:r>
            <a:endParaRPr lang="en-US" sz="1400" dirty="0"/>
          </a:p>
          <a:p>
            <a:pPr indent="0" marL="0">
              <a:lnSpc>
                <a:spcPct val="90000"/>
              </a:lnSpc>
              <a:spcAft>
                <a:spcPts val="100"/>
              </a:spcAft>
              <a:buNone/>
            </a:pPr>
            <a:endParaRPr lang="en-US" sz="1400" dirty="0"/>
          </a:p>
          <a:p>
            <a:pPr indent="0" marL="0">
              <a:lnSpc>
                <a:spcPct val="90000"/>
              </a:lnSpc>
              <a:spcAft>
                <a:spcPts val="100"/>
              </a:spcAft>
              <a:buNone/>
            </a:pPr>
            <a:r>
              <a:rPr lang="en-US" sz="1400" dirty="0">
                <a:solidFill>
                  <a:srgbClr val="CDD6F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public new string RemoveQuotes(string lejemaalPart)</a:t>
            </a:r>
            <a:endParaRPr lang="en-US" sz="1400" dirty="0"/>
          </a:p>
          <a:p>
            <a:pPr indent="0" marL="0">
              <a:lnSpc>
                <a:spcPct val="90000"/>
              </a:lnSpc>
              <a:spcAft>
                <a:spcPts val="100"/>
              </a:spcAft>
              <a:buNone/>
            </a:pPr>
            <a:r>
              <a:rPr lang="en-US" sz="1400" dirty="0">
                <a:solidFill>
                  <a:srgbClr val="CDD6F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{</a:t>
            </a:r>
            <a:endParaRPr lang="en-US" sz="1400" dirty="0"/>
          </a:p>
          <a:p>
            <a:pPr indent="0" marL="0">
              <a:lnSpc>
                <a:spcPct val="90000"/>
              </a:lnSpc>
              <a:spcAft>
                <a:spcPts val="100"/>
              </a:spcAft>
              <a:buNone/>
            </a:pPr>
            <a:r>
              <a:rPr lang="en-US" sz="1400" dirty="0">
                <a:solidFill>
                  <a:srgbClr val="CDD6F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    return base.RemoveQuotes(lejemaalPart);</a:t>
            </a:r>
            <a:endParaRPr lang="en-US" sz="1400" dirty="0"/>
          </a:p>
          <a:p>
            <a:pPr indent="0" marL="0">
              <a:lnSpc>
                <a:spcPct val="90000"/>
              </a:lnSpc>
              <a:spcAft>
                <a:spcPts val="100"/>
              </a:spcAft>
              <a:buNone/>
            </a:pPr>
            <a:r>
              <a:rPr lang="en-US" sz="1400" dirty="0">
                <a:solidFill>
                  <a:srgbClr val="CDD6F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}</a:t>
            </a:r>
            <a:endParaRPr lang="en-US" sz="1400" dirty="0"/>
          </a:p>
          <a:p>
            <a:pPr indent="0" marL="0">
              <a:lnSpc>
                <a:spcPct val="90000"/>
              </a:lnSpc>
              <a:spcAft>
                <a:spcPts val="100"/>
              </a:spcAft>
              <a:buNone/>
            </a:pPr>
            <a:endParaRPr lang="en-US" sz="1400" dirty="0"/>
          </a:p>
          <a:p>
            <a:pPr indent="0" marL="0">
              <a:lnSpc>
                <a:spcPct val="90000"/>
              </a:lnSpc>
              <a:spcAft>
                <a:spcPts val="100"/>
              </a:spcAft>
              <a:buNone/>
            </a:pPr>
            <a:r>
              <a:rPr lang="en-US" sz="1400" dirty="0">
                <a:solidFill>
                  <a:srgbClr val="CDD6F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public new List&lt;Lejemaal&gt; Konverter(string[] lejemaalData)</a:t>
            </a:r>
            <a:endParaRPr lang="en-US" sz="1400" dirty="0"/>
          </a:p>
          <a:p>
            <a:pPr indent="0" marL="0">
              <a:lnSpc>
                <a:spcPct val="90000"/>
              </a:lnSpc>
              <a:spcAft>
                <a:spcPts val="100"/>
              </a:spcAft>
              <a:buNone/>
            </a:pPr>
            <a:r>
              <a:rPr lang="en-US" sz="1400" dirty="0">
                <a:solidFill>
                  <a:srgbClr val="CDD6F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{</a:t>
            </a:r>
            <a:endParaRPr lang="en-US" sz="1400" dirty="0"/>
          </a:p>
          <a:p>
            <a:pPr indent="0" marL="0">
              <a:lnSpc>
                <a:spcPct val="90000"/>
              </a:lnSpc>
              <a:spcAft>
                <a:spcPts val="100"/>
              </a:spcAft>
              <a:buNone/>
            </a:pPr>
            <a:r>
              <a:rPr lang="en-US" sz="1400" dirty="0">
                <a:solidFill>
                  <a:srgbClr val="CDD6F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    return base.Konverter(lejemaalData);</a:t>
            </a:r>
            <a:endParaRPr lang="en-US" sz="1400" dirty="0"/>
          </a:p>
          <a:p>
            <a:pPr indent="0" marL="0">
              <a:lnSpc>
                <a:spcPct val="90000"/>
              </a:lnSpc>
              <a:spcAft>
                <a:spcPts val="100"/>
              </a:spcAft>
              <a:buNone/>
            </a:pPr>
            <a:r>
              <a:rPr lang="en-US" sz="1400" dirty="0">
                <a:solidFill>
                  <a:srgbClr val="CDD6F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}</a:t>
            </a:r>
            <a:endParaRPr lang="en-US" sz="1400" dirty="0"/>
          </a:p>
          <a:p>
            <a:pPr indent="0" marL="0">
              <a:lnSpc>
                <a:spcPct val="90000"/>
              </a:lnSpc>
              <a:spcAft>
                <a:spcPts val="100"/>
              </a:spcAft>
              <a:buNone/>
            </a:pPr>
            <a:endParaRPr lang="en-US" sz="1400" dirty="0"/>
          </a:p>
          <a:p>
            <a:pPr indent="0" marL="0">
              <a:lnSpc>
                <a:spcPct val="90000"/>
              </a:lnSpc>
              <a:spcAft>
                <a:spcPts val="100"/>
              </a:spcAft>
              <a:buNone/>
            </a:pPr>
            <a:r>
              <a:rPr lang="en-US" sz="1400" dirty="0">
                <a:solidFill>
                  <a:srgbClr val="CDD6F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public new Lejemaal DanLejemaalObjekt(string lejemaalLinje)</a:t>
            </a:r>
            <a:endParaRPr lang="en-US" sz="1400" dirty="0"/>
          </a:p>
          <a:p>
            <a:pPr indent="0" marL="0">
              <a:lnSpc>
                <a:spcPct val="90000"/>
              </a:lnSpc>
              <a:spcAft>
                <a:spcPts val="100"/>
              </a:spcAft>
              <a:buNone/>
            </a:pPr>
            <a:r>
              <a:rPr lang="en-US" sz="1400" dirty="0">
                <a:solidFill>
                  <a:srgbClr val="CDD6F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{</a:t>
            </a:r>
            <a:endParaRPr lang="en-US" sz="1400" dirty="0"/>
          </a:p>
          <a:p>
            <a:pPr indent="0" marL="0">
              <a:lnSpc>
                <a:spcPct val="90000"/>
              </a:lnSpc>
              <a:spcAft>
                <a:spcPts val="100"/>
              </a:spcAft>
              <a:buNone/>
            </a:pPr>
            <a:r>
              <a:rPr lang="en-US" sz="1400" dirty="0">
                <a:solidFill>
                  <a:srgbClr val="CDD6F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    return base.DanLejemaalObjekt(lejemaalLinje);</a:t>
            </a:r>
            <a:endParaRPr lang="en-US" sz="1400" dirty="0"/>
          </a:p>
          <a:p>
            <a:pPr indent="0" marL="0">
              <a:lnSpc>
                <a:spcPct val="90000"/>
              </a:lnSpc>
              <a:spcAft>
                <a:spcPts val="100"/>
              </a:spcAft>
              <a:buNone/>
            </a:pPr>
            <a:r>
              <a:rPr lang="en-US" sz="1400" dirty="0">
                <a:solidFill>
                  <a:srgbClr val="CDD6F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}</a:t>
            </a:r>
            <a:endParaRPr lang="en-US" sz="1400" dirty="0"/>
          </a:p>
          <a:p>
            <a:pPr indent="0" marL="0">
              <a:lnSpc>
                <a:spcPct val="90000"/>
              </a:lnSpc>
              <a:spcAft>
                <a:spcPts val="100"/>
              </a:spcAft>
              <a:buNone/>
            </a:pPr>
            <a:r>
              <a:rPr lang="en-US" sz="1400" dirty="0">
                <a:solidFill>
                  <a:srgbClr val="CDD6F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}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5486400"/>
            <a:ext cx="1069848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6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"new" keyword skjuler basisklassens protected medlem og gør det public</a:t>
            </a:r>
            <a:endParaRPr lang="en-US" sz="1600" dirty="0"/>
          </a:p>
          <a:p>
            <a:pPr>
              <a:spcAft>
                <a:spcPts val="600"/>
              </a:spcAft>
            </a:pPr>
            <a:r>
              <a:rPr lang="en-US" sz="16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base.Method() kalder den originale implementering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02D6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002D62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UCL - Programmering 2. semester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228600"/>
            <a:ext cx="10698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2D6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 projekt konfiguration (.csproj)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731520" y="1280160"/>
            <a:ext cx="10698480" cy="5029200"/>
          </a:xfrm>
          <a:prstGeom prst="roundRect">
            <a:avLst>
              <a:gd name="adj" fmla="val 1818"/>
            </a:avLst>
          </a:prstGeom>
          <a:solidFill>
            <a:srgbClr val="1E1E2E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389888"/>
            <a:ext cx="10332720" cy="4809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0000"/>
              </a:lnSpc>
              <a:spcAft>
                <a:spcPts val="100"/>
              </a:spcAft>
              <a:buNone/>
            </a:pPr>
            <a:r>
              <a:rPr lang="en-US" sz="1400" dirty="0">
                <a:solidFill>
                  <a:srgbClr val="CDD6F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&lt;Project Sdk="Microsoft.NET.Sdk"&gt;</a:t>
            </a:r>
            <a:endParaRPr lang="en-US" sz="1400" dirty="0"/>
          </a:p>
          <a:p>
            <a:pPr indent="0" marL="0">
              <a:lnSpc>
                <a:spcPct val="90000"/>
              </a:lnSpc>
              <a:spcAft>
                <a:spcPts val="100"/>
              </a:spcAft>
              <a:buNone/>
            </a:pPr>
            <a:r>
              <a:rPr lang="en-US" sz="1400" dirty="0">
                <a:solidFill>
                  <a:srgbClr val="CDD6F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&lt;PropertyGroup&gt;</a:t>
            </a:r>
            <a:endParaRPr lang="en-US" sz="1400" dirty="0"/>
          </a:p>
          <a:p>
            <a:pPr indent="0" marL="0">
              <a:lnSpc>
                <a:spcPct val="90000"/>
              </a:lnSpc>
              <a:spcAft>
                <a:spcPts val="100"/>
              </a:spcAft>
              <a:buNone/>
            </a:pPr>
            <a:r>
              <a:rPr lang="en-US" sz="1400" dirty="0">
                <a:solidFill>
                  <a:srgbClr val="CDD6F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&lt;ImplicitUsings&gt;enable&lt;/ImplicitUsings&gt;</a:t>
            </a:r>
            <a:endParaRPr lang="en-US" sz="1400" dirty="0"/>
          </a:p>
          <a:p>
            <a:pPr indent="0" marL="0">
              <a:lnSpc>
                <a:spcPct val="90000"/>
              </a:lnSpc>
              <a:spcAft>
                <a:spcPts val="100"/>
              </a:spcAft>
              <a:buNone/>
            </a:pPr>
            <a:r>
              <a:rPr lang="en-US" sz="1400" dirty="0">
                <a:solidFill>
                  <a:srgbClr val="CDD6F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&lt;Nullable&gt;enable&lt;/Nullable&gt;</a:t>
            </a:r>
            <a:endParaRPr lang="en-US" sz="1400" dirty="0"/>
          </a:p>
          <a:p>
            <a:pPr indent="0" marL="0">
              <a:lnSpc>
                <a:spcPct val="90000"/>
              </a:lnSpc>
              <a:spcAft>
                <a:spcPts val="100"/>
              </a:spcAft>
              <a:buNone/>
            </a:pPr>
            <a:r>
              <a:rPr lang="en-US" sz="1400" dirty="0">
                <a:solidFill>
                  <a:srgbClr val="CDD6F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&lt;OutputType&gt;Exe&lt;/OutputType&gt;</a:t>
            </a:r>
            <a:endParaRPr lang="en-US" sz="1400" dirty="0"/>
          </a:p>
          <a:p>
            <a:pPr indent="0" marL="0">
              <a:lnSpc>
                <a:spcPct val="90000"/>
              </a:lnSpc>
              <a:spcAft>
                <a:spcPts val="100"/>
              </a:spcAft>
              <a:buNone/>
            </a:pPr>
            <a:r>
              <a:rPr lang="en-US" sz="1400" dirty="0">
                <a:solidFill>
                  <a:srgbClr val="CDD6F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&lt;TargetFramework&gt;net10.0&lt;/TargetFramework&gt;</a:t>
            </a:r>
            <a:endParaRPr lang="en-US" sz="1400" dirty="0"/>
          </a:p>
          <a:p>
            <a:pPr indent="0" marL="0">
              <a:lnSpc>
                <a:spcPct val="90000"/>
              </a:lnSpc>
              <a:spcAft>
                <a:spcPts val="100"/>
              </a:spcAft>
              <a:buNone/>
            </a:pPr>
            <a:r>
              <a:rPr lang="en-US" sz="1400" dirty="0">
                <a:solidFill>
                  <a:srgbClr val="CDD6F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&lt;/PropertyGroup&gt;</a:t>
            </a:r>
            <a:endParaRPr lang="en-US" sz="1400" dirty="0"/>
          </a:p>
          <a:p>
            <a:pPr indent="0" marL="0">
              <a:lnSpc>
                <a:spcPct val="90000"/>
              </a:lnSpc>
              <a:spcAft>
                <a:spcPts val="100"/>
              </a:spcAft>
              <a:buNone/>
            </a:pPr>
            <a:endParaRPr lang="en-US" sz="1400" dirty="0"/>
          </a:p>
          <a:p>
            <a:pPr indent="0" marL="0">
              <a:lnSpc>
                <a:spcPct val="90000"/>
              </a:lnSpc>
              <a:spcAft>
                <a:spcPts val="100"/>
              </a:spcAft>
              <a:buNone/>
            </a:pPr>
            <a:r>
              <a:rPr lang="en-US" sz="1400" dirty="0">
                <a:solidFill>
                  <a:srgbClr val="CDD6F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&lt;ItemGroup&gt;</a:t>
            </a:r>
            <a:endParaRPr lang="en-US" sz="1400" dirty="0"/>
          </a:p>
          <a:p>
            <a:pPr indent="0" marL="0">
              <a:lnSpc>
                <a:spcPct val="90000"/>
              </a:lnSpc>
              <a:spcAft>
                <a:spcPts val="100"/>
              </a:spcAft>
              <a:buNone/>
            </a:pPr>
            <a:r>
              <a:rPr lang="en-US" sz="1400" dirty="0">
                <a:solidFill>
                  <a:srgbClr val="CDD6F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&lt;Content Include="xunit.runner.json" CopyToOutputDirectory="PreserveNewest" /&gt;</a:t>
            </a:r>
            <a:endParaRPr lang="en-US" sz="1400" dirty="0"/>
          </a:p>
          <a:p>
            <a:pPr indent="0" marL="0">
              <a:lnSpc>
                <a:spcPct val="90000"/>
              </a:lnSpc>
              <a:spcAft>
                <a:spcPts val="100"/>
              </a:spcAft>
              <a:buNone/>
            </a:pPr>
            <a:r>
              <a:rPr lang="en-US" sz="1400" dirty="0">
                <a:solidFill>
                  <a:srgbClr val="CDD6F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&lt;/ItemGroup&gt;</a:t>
            </a:r>
            <a:endParaRPr lang="en-US" sz="1400" dirty="0"/>
          </a:p>
          <a:p>
            <a:pPr indent="0" marL="0">
              <a:lnSpc>
                <a:spcPct val="90000"/>
              </a:lnSpc>
              <a:spcAft>
                <a:spcPts val="100"/>
              </a:spcAft>
              <a:buNone/>
            </a:pPr>
            <a:endParaRPr lang="en-US" sz="1400" dirty="0"/>
          </a:p>
          <a:p>
            <a:pPr indent="0" marL="0">
              <a:lnSpc>
                <a:spcPct val="90000"/>
              </a:lnSpc>
              <a:spcAft>
                <a:spcPts val="100"/>
              </a:spcAft>
              <a:buNone/>
            </a:pPr>
            <a:r>
              <a:rPr lang="en-US" sz="1400" dirty="0">
                <a:solidFill>
                  <a:srgbClr val="CDD6F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&lt;ItemGroup&gt;</a:t>
            </a:r>
            <a:endParaRPr lang="en-US" sz="1400" dirty="0"/>
          </a:p>
          <a:p>
            <a:pPr indent="0" marL="0">
              <a:lnSpc>
                <a:spcPct val="90000"/>
              </a:lnSpc>
              <a:spcAft>
                <a:spcPts val="100"/>
              </a:spcAft>
              <a:buNone/>
            </a:pPr>
            <a:r>
              <a:rPr lang="en-US" sz="1400" dirty="0">
                <a:solidFill>
                  <a:srgbClr val="CDD6F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&lt;Using Include="Xunit" /&gt;    &lt;!-- Global using for xUnit --&gt;</a:t>
            </a:r>
            <a:endParaRPr lang="en-US" sz="1400" dirty="0"/>
          </a:p>
          <a:p>
            <a:pPr indent="0" marL="0">
              <a:lnSpc>
                <a:spcPct val="90000"/>
              </a:lnSpc>
              <a:spcAft>
                <a:spcPts val="100"/>
              </a:spcAft>
              <a:buNone/>
            </a:pPr>
            <a:r>
              <a:rPr lang="en-US" sz="1400" dirty="0">
                <a:solidFill>
                  <a:srgbClr val="CDD6F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&lt;/ItemGroup&gt;</a:t>
            </a:r>
            <a:endParaRPr lang="en-US" sz="1400" dirty="0"/>
          </a:p>
          <a:p>
            <a:pPr indent="0" marL="0">
              <a:lnSpc>
                <a:spcPct val="90000"/>
              </a:lnSpc>
              <a:spcAft>
                <a:spcPts val="100"/>
              </a:spcAft>
              <a:buNone/>
            </a:pPr>
            <a:endParaRPr lang="en-US" sz="1400" dirty="0"/>
          </a:p>
          <a:p>
            <a:pPr indent="0" marL="0">
              <a:lnSpc>
                <a:spcPct val="90000"/>
              </a:lnSpc>
              <a:spcAft>
                <a:spcPts val="100"/>
              </a:spcAft>
              <a:buNone/>
            </a:pPr>
            <a:r>
              <a:rPr lang="en-US" sz="1400" dirty="0">
                <a:solidFill>
                  <a:srgbClr val="CDD6F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&lt;ItemGroup&gt;</a:t>
            </a:r>
            <a:endParaRPr lang="en-US" sz="1400" dirty="0"/>
          </a:p>
          <a:p>
            <a:pPr indent="0" marL="0">
              <a:lnSpc>
                <a:spcPct val="90000"/>
              </a:lnSpc>
              <a:spcAft>
                <a:spcPts val="100"/>
              </a:spcAft>
              <a:buNone/>
            </a:pPr>
            <a:r>
              <a:rPr lang="en-US" sz="1400" dirty="0">
                <a:solidFill>
                  <a:srgbClr val="CDD6F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&lt;PackageReference Include="Microsoft.NET.Test.Sdk" Version="18.0.1" /&gt;</a:t>
            </a:r>
            <a:endParaRPr lang="en-US" sz="1400" dirty="0"/>
          </a:p>
          <a:p>
            <a:pPr indent="0" marL="0">
              <a:lnSpc>
                <a:spcPct val="90000"/>
              </a:lnSpc>
              <a:spcAft>
                <a:spcPts val="100"/>
              </a:spcAft>
              <a:buNone/>
            </a:pPr>
            <a:r>
              <a:rPr lang="en-US" sz="1400" dirty="0">
                <a:solidFill>
                  <a:srgbClr val="CDD6F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&lt;PackageReference Include="Moq" Version="4.20.72" /&gt;</a:t>
            </a:r>
            <a:endParaRPr lang="en-US" sz="1400" dirty="0"/>
          </a:p>
          <a:p>
            <a:pPr indent="0" marL="0">
              <a:lnSpc>
                <a:spcPct val="90000"/>
              </a:lnSpc>
              <a:spcAft>
                <a:spcPts val="100"/>
              </a:spcAft>
              <a:buNone/>
            </a:pPr>
            <a:r>
              <a:rPr lang="en-US" sz="1400" dirty="0">
                <a:solidFill>
                  <a:srgbClr val="CDD6F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&lt;PackageReference Include="xunit.v3.mtp-v2" Version="3.2.2" /&gt;</a:t>
            </a:r>
            <a:endParaRPr lang="en-US" sz="1400" dirty="0"/>
          </a:p>
          <a:p>
            <a:pPr indent="0" marL="0">
              <a:lnSpc>
                <a:spcPct val="90000"/>
              </a:lnSpc>
              <a:spcAft>
                <a:spcPts val="100"/>
              </a:spcAft>
              <a:buNone/>
            </a:pPr>
            <a:r>
              <a:rPr lang="en-US" sz="1400" dirty="0">
                <a:solidFill>
                  <a:srgbClr val="CDD6F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&lt;/ItemGroup&gt;</a:t>
            </a:r>
            <a:endParaRPr lang="en-US" sz="1400" dirty="0"/>
          </a:p>
          <a:p>
            <a:pPr indent="0" marL="0">
              <a:lnSpc>
                <a:spcPct val="90000"/>
              </a:lnSpc>
              <a:spcAft>
                <a:spcPts val="100"/>
              </a:spcAft>
              <a:buNone/>
            </a:pPr>
            <a:endParaRPr lang="en-US" sz="1400" dirty="0"/>
          </a:p>
          <a:p>
            <a:pPr indent="0" marL="0">
              <a:lnSpc>
                <a:spcPct val="90000"/>
              </a:lnSpc>
              <a:spcAft>
                <a:spcPts val="100"/>
              </a:spcAft>
              <a:buNone/>
            </a:pPr>
            <a:r>
              <a:rPr lang="en-US" sz="1400" dirty="0">
                <a:solidFill>
                  <a:srgbClr val="CDD6F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&lt;ItemGroup&gt;</a:t>
            </a:r>
            <a:endParaRPr lang="en-US" sz="1400" dirty="0"/>
          </a:p>
          <a:p>
            <a:pPr indent="0" marL="0">
              <a:lnSpc>
                <a:spcPct val="90000"/>
              </a:lnSpc>
              <a:spcAft>
                <a:spcPts val="100"/>
              </a:spcAft>
              <a:buNone/>
            </a:pPr>
            <a:r>
              <a:rPr lang="en-US" sz="1400" dirty="0">
                <a:solidFill>
                  <a:srgbClr val="CDD6F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&lt;ProjectReference Include="..\Ejendomsberegner.Core\Ejendomsberegner.Core.csproj" /&gt;</a:t>
            </a:r>
            <a:endParaRPr lang="en-US" sz="1400" dirty="0"/>
          </a:p>
          <a:p>
            <a:pPr indent="0" marL="0">
              <a:lnSpc>
                <a:spcPct val="90000"/>
              </a:lnSpc>
              <a:spcAft>
                <a:spcPts val="100"/>
              </a:spcAft>
              <a:buNone/>
            </a:pPr>
            <a:r>
              <a:rPr lang="en-US" sz="1400" dirty="0">
                <a:solidFill>
                  <a:srgbClr val="CDD6F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&lt;/ItemGroup&gt;</a:t>
            </a:r>
            <a:endParaRPr lang="en-US" sz="1400" dirty="0"/>
          </a:p>
          <a:p>
            <a:pPr indent="0" marL="0">
              <a:lnSpc>
                <a:spcPct val="90000"/>
              </a:lnSpc>
              <a:spcAft>
                <a:spcPts val="100"/>
              </a:spcAft>
              <a:buNone/>
            </a:pPr>
            <a:r>
              <a:rPr lang="en-US" sz="1400" dirty="0">
                <a:solidFill>
                  <a:srgbClr val="CDD6F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&lt;/Project&gt;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5303520"/>
            <a:ext cx="1069848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6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OutputType: Exe (kræves af xUnit v3)</a:t>
            </a:r>
            <a:endParaRPr lang="en-US" sz="1600" dirty="0"/>
          </a:p>
          <a:p>
            <a:pPr>
              <a:spcAft>
                <a:spcPts val="600"/>
              </a:spcAft>
            </a:pPr>
            <a:r>
              <a:rPr lang="en-US" sz="16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Global using Xunit - ingen using Xunit; i hver testfil</a:t>
            </a:r>
            <a:endParaRPr lang="en-US" sz="1600" dirty="0"/>
          </a:p>
          <a:p>
            <a:pPr>
              <a:spcAft>
                <a:spcPts val="600"/>
              </a:spcAft>
            </a:pPr>
            <a:r>
              <a:rPr lang="en-US" sz="16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Tre NuGet pakker: Test.Sdk, Moq, xunit.v3</a:t>
            </a:r>
            <a:endParaRPr lang="en-US" sz="1600" dirty="0"/>
          </a:p>
          <a:p>
            <a:pPr>
              <a:spcAft>
                <a:spcPts val="600"/>
              </a:spcAft>
            </a:pPr>
            <a:r>
              <a:rPr lang="en-US" sz="16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ProjectReference til Core projektet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02D6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002D62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UCL - Programmering 2. semester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228600"/>
            <a:ext cx="10698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2D6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Kør tests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31520" y="128016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56A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Fra kommandolinjen: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31520" y="1737360"/>
            <a:ext cx="10698480" cy="640080"/>
          </a:xfrm>
          <a:prstGeom prst="roundRect">
            <a:avLst>
              <a:gd name="adj" fmla="val 14286"/>
            </a:avLst>
          </a:prstGeom>
          <a:solidFill>
            <a:srgbClr val="1E1E2E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1847088"/>
            <a:ext cx="1033272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0000"/>
              </a:lnSpc>
              <a:spcAft>
                <a:spcPts val="100"/>
              </a:spcAft>
              <a:buNone/>
            </a:pPr>
            <a:r>
              <a:rPr lang="en-US" sz="2000" dirty="0">
                <a:solidFill>
                  <a:srgbClr val="CDD6F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dotnet test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31520" y="25603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56A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Fra Visual Studio / Rider: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3017520"/>
            <a:ext cx="106984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20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 Explorer: View → Test Explorer</a:t>
            </a:r>
            <a:endParaRPr lang="en-US" sz="2000" dirty="0"/>
          </a:p>
          <a:p>
            <a:pPr>
              <a:spcAft>
                <a:spcPts val="600"/>
              </a:spcAft>
            </a:pPr>
            <a:r>
              <a:rPr lang="en-US" sz="20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Højreklik på test → Run Test</a:t>
            </a:r>
            <a:endParaRPr lang="en-US" sz="2000" dirty="0"/>
          </a:p>
          <a:p>
            <a:pPr>
              <a:spcAft>
                <a:spcPts val="600"/>
              </a:spcAft>
            </a:pPr>
            <a:r>
              <a:rPr lang="en-US" sz="20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Grøn = passed, Rød = failed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31520" y="42062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0A0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Forventet resultat: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31520" y="4663440"/>
            <a:ext cx="10698480" cy="594360"/>
          </a:xfrm>
          <a:prstGeom prst="roundRect">
            <a:avLst>
              <a:gd name="adj" fmla="val 15385"/>
            </a:avLst>
          </a:prstGeom>
          <a:solidFill>
            <a:srgbClr val="1E1E2E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773168"/>
            <a:ext cx="10332720" cy="3749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0000"/>
              </a:lnSpc>
              <a:spcAft>
                <a:spcPts val="100"/>
              </a:spcAft>
              <a:buNone/>
            </a:pPr>
            <a:r>
              <a:rPr lang="en-US" sz="1800" dirty="0">
                <a:solidFill>
                  <a:srgbClr val="CDD6F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Passed!  - Failed: 0, Passed: 4, Skipped: 0, Total: 4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31520" y="5303520"/>
            <a:ext cx="1069848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6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tests: 1x [Fact] ServiceTest + 1x [Fact] RepoTest + 2x [Theory] fejltest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02D6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002D62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UCL - Programmering 2. semester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228600"/>
            <a:ext cx="10698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2D6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Oversigt: Hvad mockes hvor?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3017520" cy="594360"/>
          </a:xfrm>
          <a:prstGeom prst="rect">
            <a:avLst/>
          </a:prstGeom>
          <a:solidFill>
            <a:srgbClr val="002D62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63040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 klasse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566160" y="1463040"/>
            <a:ext cx="2743200" cy="594360"/>
          </a:xfrm>
          <a:prstGeom prst="rect">
            <a:avLst/>
          </a:prstGeom>
          <a:solidFill>
            <a:srgbClr val="002D62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0" y="146304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SUT (System Under Test)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309360" y="1463040"/>
            <a:ext cx="2286000" cy="594360"/>
          </a:xfrm>
          <a:prstGeom prst="rect">
            <a:avLst/>
          </a:prstGeom>
          <a:solidFill>
            <a:srgbClr val="002D62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0" y="146304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Mocked dependency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595360" y="1463040"/>
            <a:ext cx="2743200" cy="594360"/>
          </a:xfrm>
          <a:prstGeom prst="rect">
            <a:avLst/>
          </a:prstGeom>
          <a:solidFill>
            <a:srgbClr val="002D62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0" y="146304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Hvad testes?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2057400"/>
            <a:ext cx="30175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057400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EjendomsberegnerServiceTest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566160" y="2057400"/>
            <a:ext cx="27432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0" y="205740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EjendomBeregnerService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309360" y="2057400"/>
            <a:ext cx="22860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0" y="205740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ILejemaalRepository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595360" y="2057400"/>
            <a:ext cx="27432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0" y="205740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BeregnKvadratmeter summerer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8640" y="2651760"/>
            <a:ext cx="3017520" cy="594360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2651760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LejemaalFraFilRepositoryTest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566160" y="2651760"/>
            <a:ext cx="2743200" cy="594360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0" y="265176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LejemaalFraFilRepository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309360" y="2651760"/>
            <a:ext cx="2286000" cy="594360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0" y="265176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IFile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595360" y="2651760"/>
            <a:ext cx="2743200" cy="594360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686800" y="265176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HentLejemaal parser CSV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48640" y="3246120"/>
            <a:ext cx="30175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" y="3246120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(Theory) Forkerte datatyper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3566160" y="3246120"/>
            <a:ext cx="27432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0" y="324612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LejemaalFraFilRepositoryStub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309360" y="3246120"/>
            <a:ext cx="22860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0800" y="324612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IFile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8595360" y="3246120"/>
            <a:ext cx="27432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686800" y="324612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Exception ved forkert input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548640" y="3840480"/>
            <a:ext cx="3017520" cy="594360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0080" y="3840480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(Theory) Forkert antal felter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3566160" y="3840480"/>
            <a:ext cx="2743200" cy="594360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57600" y="384048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LejemaalFraFilRepositoryStub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6309360" y="3840480"/>
            <a:ext cx="2286000" cy="594360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00800" y="384048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IFile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8595360" y="3840480"/>
            <a:ext cx="2743200" cy="594360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686800" y="384048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Exception ved &lt; 3 felter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731520" y="4389120"/>
            <a:ext cx="1069848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Hvert lag mockes separat - dette er kernen i unit testing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Mock ILejemaalRepository → test beregning isoleret fra dataadgang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Mock IFile → test parsing isoleret fra filsystem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02D6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002D62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UCL - Programmering 2. semester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228600"/>
            <a:ext cx="10698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2D6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Opsummering - Hvad lærte vi?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31520" y="1371600"/>
            <a:ext cx="1069848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20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Interfaces + DIP gør koden testbar</a:t>
            </a:r>
            <a:endParaRPr lang="en-US" sz="2000" dirty="0"/>
          </a:p>
          <a:p>
            <a:pPr lvl="1">
              <a:spcAft>
                <a:spcPts val="600"/>
              </a:spcAft>
            </a:pPr>
            <a:r>
              <a:rPr lang="en-US" sz="20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Dependency Injection via constructor</a:t>
            </a:r>
            <a:endParaRPr lang="en-US" sz="2000" dirty="0"/>
          </a:p>
          <a:p>
            <a:pPr>
              <a:spcAft>
                <a:spcPts val="600"/>
              </a:spcAft>
            </a:pPr>
            <a:r>
              <a:rPr lang="en-US" sz="20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Adapter Pattern abstraherer eksterne afhængigheder</a:t>
            </a:r>
            <a:endParaRPr lang="en-US" sz="2000" dirty="0"/>
          </a:p>
          <a:p>
            <a:pPr lvl="1">
              <a:spcAft>
                <a:spcPts val="600"/>
              </a:spcAft>
            </a:pPr>
            <a:r>
              <a:rPr lang="en-US" sz="20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IFile indkapsler File.ReadAllLines()</a:t>
            </a:r>
            <a:endParaRPr lang="en-US" sz="2000" dirty="0"/>
          </a:p>
          <a:p>
            <a:pPr>
              <a:spcAft>
                <a:spcPts val="600"/>
              </a:spcAft>
            </a:pPr>
            <a:r>
              <a:rPr lang="en-US" sz="20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Moq opretter mocks af interfaces</a:t>
            </a:r>
            <a:endParaRPr lang="en-US" sz="2000" dirty="0"/>
          </a:p>
          <a:p>
            <a:pPr lvl="1">
              <a:spcAft>
                <a:spcPts val="600"/>
              </a:spcAft>
            </a:pPr>
            <a:r>
              <a:rPr lang="en-US" sz="20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Setup() → Returns() definerer mock-adfærd</a:t>
            </a:r>
            <a:endParaRPr lang="en-US" sz="2000" dirty="0"/>
          </a:p>
          <a:p>
            <a:pPr>
              <a:spcAft>
                <a:spcPts val="600"/>
              </a:spcAft>
            </a:pPr>
            <a:r>
              <a:rPr lang="en-US" sz="20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xUnit v3 med [Fact] og [Theory]</a:t>
            </a:r>
            <a:endParaRPr lang="en-US" sz="2000" dirty="0"/>
          </a:p>
          <a:p>
            <a:pPr lvl="1">
              <a:spcAft>
                <a:spcPts val="600"/>
              </a:spcAft>
            </a:pPr>
            <a:r>
              <a:rPr lang="en-US" sz="20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[InlineData] til parameteriserede tests</a:t>
            </a:r>
            <a:endParaRPr lang="en-US" sz="2000" dirty="0"/>
          </a:p>
          <a:p>
            <a:pPr>
              <a:spcAft>
                <a:spcPts val="600"/>
              </a:spcAft>
            </a:pPr>
            <a:r>
              <a:rPr lang="en-US" sz="20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Record types giver værdi-baseret sammenligning</a:t>
            </a:r>
            <a:endParaRPr lang="en-US" sz="2000" dirty="0"/>
          </a:p>
          <a:p>
            <a:pPr lvl="1">
              <a:spcAft>
                <a:spcPts val="600"/>
              </a:spcAft>
            </a:pPr>
            <a:r>
              <a:rPr lang="en-US" sz="20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Assert.Equal() virker direkte på records</a:t>
            </a:r>
            <a:endParaRPr lang="en-US" sz="2000" dirty="0"/>
          </a:p>
          <a:p>
            <a:pPr>
              <a:spcAft>
                <a:spcPts val="600"/>
              </a:spcAft>
            </a:pPr>
            <a:r>
              <a:rPr lang="en-US" sz="20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Stub pattern til test af protected metoder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31520" y="5577840"/>
            <a:ext cx="10698480" cy="640080"/>
          </a:xfrm>
          <a:prstGeom prst="roundRect">
            <a:avLst>
              <a:gd name="adj" fmla="val 14286"/>
            </a:avLst>
          </a:prstGeom>
          <a:solidFill>
            <a:srgbClr val="0056A4"/>
          </a:solidFill>
          <a:ln w="19050">
            <a:solidFill>
              <a:srgbClr val="0056A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5577840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Arkitektur og interfaces er fundamentet for god testbarhed!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731520" y="5577840"/>
            <a:ext cx="10698480" cy="640080"/>
          </a:xfrm>
          <a:prstGeom prst="roundRect">
            <a:avLst>
              <a:gd name="adj" fmla="val 14286"/>
            </a:avLst>
          </a:prstGeom>
          <a:solidFill>
            <a:srgbClr val="0056A4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557784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Arkitektur og interfaces er fundamentet for god testbarhed!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2026-02-21T17:19:28Z</dcterms:created>
  <dcterms:modified xsi:type="dcterms:W3CDTF">2026-02-21T17:19:28Z</dcterms:modified>
</cp:coreProperties>
</file>